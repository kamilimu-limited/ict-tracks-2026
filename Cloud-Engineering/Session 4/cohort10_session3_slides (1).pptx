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image" Target="../media/image-33-7.png"/><Relationship Id="rId8" Type="http://schemas.openxmlformats.org/officeDocument/2006/relationships/image" Target="../media/image-3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10058400" y="365760"/>
            <a:ext cx="1554480" cy="15544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182880" y="5120640"/>
            <a:ext cx="1097280" cy="10972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10972800" y="5303520"/>
            <a:ext cx="822960" cy="82296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457200" y="2194560"/>
            <a:ext cx="137160" cy="23774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1"/>
          <p:cNvSpPr/>
          <p:nvPr/>
        </p:nvSpPr>
        <p:spPr>
          <a:xfrm>
            <a:off x="822960" y="2103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</a:t>
            </a:r>
            <a:endParaRPr lang="en-US" sz="1400" dirty="0"/>
          </a:p>
        </p:txBody>
      </p:sp>
      <p:sp>
        <p:nvSpPr>
          <p:cNvPr id="7" name="Text 2"/>
          <p:cNvSpPr/>
          <p:nvPr/>
        </p:nvSpPr>
        <p:spPr>
          <a:xfrm>
            <a:off x="822960" y="26060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</a:t>
            </a:r>
            <a:endParaRPr lang="en-US" sz="5400" dirty="0"/>
          </a:p>
        </p:txBody>
      </p:sp>
      <p:sp>
        <p:nvSpPr>
          <p:cNvPr id="8" name="Text 3"/>
          <p:cNvSpPr/>
          <p:nvPr/>
        </p:nvSpPr>
        <p:spPr>
          <a:xfrm>
            <a:off x="822960" y="34290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5400" dirty="0"/>
          </a:p>
        </p:txBody>
      </p:sp>
      <p:sp>
        <p:nvSpPr>
          <p:cNvPr id="9" name="Text 4"/>
          <p:cNvSpPr/>
          <p:nvPr/>
        </p:nvSpPr>
        <p:spPr>
          <a:xfrm>
            <a:off x="822960" y="4434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Locking down the cloud — IAM, encryption, secrets, and the audit trail on AWS</a:t>
            </a:r>
            <a:endParaRPr lang="en-US" sz="1800" dirty="0"/>
          </a:p>
        </p:txBody>
      </p:sp>
      <p:sp>
        <p:nvSpPr>
          <p:cNvPr id="10" name="Shape 5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457200" y="64008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•  Lead Cloud Mentor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3: Identity &amp; Security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35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657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71600"/>
            <a:ext cx="73152" cy="15544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087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15361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19659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 triad, defense in depth, the shared responsibility model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51960" y="1371600"/>
            <a:ext cx="3657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51960" y="1371600"/>
            <a:ext cx="73152" cy="15544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15087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120640" y="15361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basics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34840" y="19659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vs Authorization, and why MFA is non-negotiable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0" y="1371600"/>
            <a:ext cx="3657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0" y="1371600"/>
            <a:ext cx="73152" cy="15544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5087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915400" y="15361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0" y="19659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Groups, Roles, Policies — the building blocks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090672"/>
            <a:ext cx="3657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090672"/>
            <a:ext cx="73152" cy="15544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2278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325880" y="325526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mastery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3685032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anatomy, evaluation logic, least privilege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251960" y="3090672"/>
            <a:ext cx="3657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51960" y="3090672"/>
            <a:ext cx="73152" cy="15544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34840" y="32278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120640" y="325526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&amp; KMS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434840" y="3685032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hardcode. Secrets Manager, Parameter Store, encryption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46720" y="3090672"/>
            <a:ext cx="3657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046720" y="3090672"/>
            <a:ext cx="73152" cy="15544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0" y="32278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8915400" y="325526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229600" y="3685032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WAF, Shield, VPC Endpoints — defense at the edge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4809744"/>
            <a:ext cx="3657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7200" y="4809744"/>
            <a:ext cx="73152" cy="15544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94690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1325880" y="49743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40080" y="5404104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CloudTrail, GuardDuty, Config — the security telemetry stack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251960" y="4809744"/>
            <a:ext cx="3657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251960" y="4809744"/>
            <a:ext cx="73152" cy="15544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34840" y="494690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5120640" y="49743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434840" y="5404104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S3, leaked keys, no MFA — what burns beginners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046720" y="4809744"/>
            <a:ext cx="3657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046720" y="4809744"/>
            <a:ext cx="73152" cy="15544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9600" y="494690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8915400" y="49743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8229600" y="5404104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your AWS account — six-step lab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0"/>
            <a:ext cx="137160" cy="1463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security thinking comes before everything else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9601200" y="246888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CIA Triad — the three goals of every security control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3: Identity &amp; Security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security decision protects at least one. Knowing which lets you justify the cost.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70332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691640"/>
            <a:ext cx="3703320" cy="11887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830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1691640" y="2057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301752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authorized people can READ the data.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5800" y="38404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41148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(TLS, KMS), IAM policies, network isolation, MFA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580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5800" y="53949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S3 buckets, leaked credentials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97680" y="1691640"/>
            <a:ext cx="370332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97680" y="1691640"/>
            <a:ext cx="3703320" cy="11887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17830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6400" dirty="0"/>
          </a:p>
        </p:txBody>
      </p:sp>
      <p:sp>
        <p:nvSpPr>
          <p:cNvPr id="20" name="Text 18"/>
          <p:cNvSpPr/>
          <p:nvPr/>
        </p:nvSpPr>
        <p:spPr>
          <a:xfrm>
            <a:off x="5532120" y="2057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26280" y="301752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not modified by unauthorized parties.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26280" y="38404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26280" y="41148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Checksums, digital signatures, immutable backups, version control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262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26280" y="53949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Tampered audit logs, modified DB rows, MITM attacks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38160" y="1691640"/>
            <a:ext cx="370332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38160" y="1691640"/>
            <a:ext cx="3703320" cy="11887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0" y="17830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6400" dirty="0"/>
          </a:p>
        </p:txBody>
      </p:sp>
      <p:sp>
        <p:nvSpPr>
          <p:cNvPr id="29" name="Text 27"/>
          <p:cNvSpPr/>
          <p:nvPr/>
        </p:nvSpPr>
        <p:spPr>
          <a:xfrm>
            <a:off x="9372600" y="2057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366760" y="301752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users can access the data WHEN needed.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366760" y="38404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366760" y="41148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Multi-AZ, autoscaling, DDoS protection, backups, health checks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36676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366760" y="53949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DDoS, ransomware, accidental deletion, AZ failure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 — layers, not a single wall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3: Identity &amp; Security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control is perfect. Stack them so one failure doesn't mean total compromise.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594360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148840"/>
            <a:ext cx="5029200" cy="370332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194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325880" y="2560320"/>
            <a:ext cx="4206240" cy="2880360"/>
          </a:xfrm>
          <a:prstGeom prst="rect">
            <a:avLst/>
          </a:prstGeom>
          <a:solidFill>
            <a:srgbClr val="1E40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26060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737360" y="2971800"/>
            <a:ext cx="3383280" cy="2057400"/>
          </a:xfrm>
          <a:prstGeom prst="rect">
            <a:avLst/>
          </a:prstGeom>
          <a:solidFill>
            <a:srgbClr val="4A90C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0" y="3017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148840" y="3383280"/>
            <a:ext cx="2560320" cy="12344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48840" y="3429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60320" y="3794760"/>
            <a:ext cx="1737360" cy="411480"/>
          </a:xfrm>
          <a:prstGeom prst="rect">
            <a:avLst/>
          </a:prstGeom>
          <a:solidFill>
            <a:srgbClr val="0F2A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3840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063240" y="3634740"/>
            <a:ext cx="731520" cy="73152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3817620"/>
            <a:ext cx="365760" cy="36576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6675120" y="1783080"/>
            <a:ext cx="5029200" cy="443484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675120" y="1783080"/>
            <a:ext cx="73152" cy="44348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49440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has its own controls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995160" y="2697480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315200" y="2560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15200" y="285292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WAF, Shield, CloudFront, DDoS protection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995160" y="3410712"/>
            <a:ext cx="201168" cy="20116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315200" y="32735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315200" y="356616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VPC, Security Groups, NACLs, VPC Endpoints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995160" y="4123944"/>
            <a:ext cx="201168" cy="201168"/>
          </a:xfrm>
          <a:prstGeom prst="ellipse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315200" y="39867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7315200" y="427939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patching, anti-malware, EC2 Inspector, SSM agent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4837176"/>
            <a:ext cx="201168" cy="20116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315200" y="47000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7315200" y="4992624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validation, OWASP defences, secure coding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5550408"/>
            <a:ext cx="201168" cy="201168"/>
          </a:xfrm>
          <a:prstGeom prst="ellipse">
            <a:avLst/>
          </a:prstGeom>
          <a:solidFill>
            <a:srgbClr val="C75300"/>
          </a:solidFill>
          <a:ln w="12700">
            <a:solidFill>
              <a:srgbClr val="C7530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315200" y="54132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7315200" y="5705856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 (KMS), encryption in transit, IAM access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Responsibility — security edition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3: Identity &amp; Security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saw this in Session 1. Re-visiting through the security lens — the split is where compromises happen.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553212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83080"/>
            <a:ext cx="5532120" cy="64008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988820"/>
            <a:ext cx="228600" cy="228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88720" y="17830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AWS: Security OF the cloud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85800" y="2560320"/>
            <a:ext cx="5120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data center security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Hardware, host OS, hypervisor (Nitro) patches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infrastructure &amp; global backbone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service SLAs — durability, availability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patching of managed services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infrastructure (KMS HSM)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72200" y="1783080"/>
            <a:ext cx="553212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72200" y="1783080"/>
            <a:ext cx="5532120" cy="6400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55080" y="187452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380" y="1988820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903720" y="17830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Security IN the cloud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400800" y="2560320"/>
            <a:ext cx="5120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— users, roles, policies, MFA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Patching YOUR EC2 operating system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security — code, dependencies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classification, encryption choices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Groups, NACLs, WAF rules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management — never hardcode them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response — CloudTrail, GuardDuty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0"/>
            <a:ext cx="137160" cy="1463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Basics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AuthN, AuthZ, and the second factor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9601200" y="246888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vs Authorization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3: Identity &amp; Security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questions. They get confused. The distinction is fundamental.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553212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83080"/>
            <a:ext cx="73152" cy="44348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965960"/>
            <a:ext cx="640080" cy="64008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212598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0876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(AuthN)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508760" y="2331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are you?"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85800" y="2834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identity. The login step.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5800" y="3246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factor categories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56616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you KNOW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passwords, PINs, security questions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you HAVE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phone, hardware token, smart card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you ARE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fingerprint, face scan, retina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5800" y="55321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examples: console password, access keys, IAM role credentials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172200" y="1783080"/>
            <a:ext cx="553212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172200" y="1783080"/>
            <a:ext cx="73152" cy="443484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00800" y="1965960"/>
            <a:ext cx="640080" cy="640080"/>
          </a:xfrm>
          <a:prstGeom prst="ellipse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820" y="2125980"/>
            <a:ext cx="320040" cy="32004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22376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(AuthZ)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7223760" y="2331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can you do?"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6400800" y="2834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permissions. Happens AFTER authentication.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400800" y="3246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AWS decides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6583680" y="356616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IAM policies attached to the identity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resource-based policies (e.g. S3 bucket policy)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permissions boundaries &amp; SCPs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conditions (time, IP, MFA status)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deny. Explicit DENY always wins.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— the single highest-impact security control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3: Identity &amp; Security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Authentication: combine factors from two different categories. A leaked password alone gets you nothing.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11247120" cy="11887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83080"/>
            <a:ext cx="73152" cy="1188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965960"/>
            <a:ext cx="822960" cy="8229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171700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783080" y="18745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factors are exponentially harder to compromise than one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783080" y="233172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reports MFA blocks ~99.9% of automated account compromise attempts. It is the single best investment you can make.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108960"/>
            <a:ext cx="37033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3108960"/>
            <a:ext cx="73152" cy="31089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33375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MFA app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85800" y="3840480"/>
            <a:ext cx="3246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Authenticator, Authy, 1Password. App generates a 6-digit code every 30s. Free, fast, good for personal accounts.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85800" y="55778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choice. Use this.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297680" y="3108960"/>
            <a:ext cx="37033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297680" y="3108960"/>
            <a:ext cx="73152" cy="31089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480560" y="33375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MFA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526280" y="3840480"/>
            <a:ext cx="3246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YubiKey, Titan Key. A physical USB device you must touch. Phishing-resistant.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526280" y="55778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for root and admins.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138160" y="3108960"/>
            <a:ext cx="37033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138160" y="3108960"/>
            <a:ext cx="73152" cy="3108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321040" y="33375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Voice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8366760" y="3840480"/>
            <a:ext cx="3246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texted to your phone. AWS technically supports for IAM users but NOT for root account. Avoid — SIM swap attacks make this weak.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8366760" y="55778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resort only.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0"/>
            <a:ext cx="137160" cy="1463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and Access Management — the heart of AWS security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9601200" y="246888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building blocks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3: Identity &amp; Security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these four and 90% of IAM stops being confusing.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779776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691640"/>
            <a:ext cx="73152" cy="45262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9888" y="2057400"/>
            <a:ext cx="914400" cy="9144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8488" y="228600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315468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85800" y="3749040"/>
            <a:ext cx="23225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long-term identity for a human or app. Has login credentials. One IAM user = one person.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328416" y="1691640"/>
            <a:ext cx="2779776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328416" y="1691640"/>
            <a:ext cx="73152" cy="45262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61104" y="2057400"/>
            <a:ext cx="914400" cy="9144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04" y="228600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511296" y="315468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3557016" y="3749040"/>
            <a:ext cx="23225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collection of users. Attach policies to the group; every user inherits them. Easier than per-user policies.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199632" y="1691640"/>
            <a:ext cx="2779776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199632" y="1691640"/>
            <a:ext cx="73152" cy="45262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132320" y="2057400"/>
            <a:ext cx="914400" cy="9144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2286000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82512" y="315468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6428232" y="3749040"/>
            <a:ext cx="23225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temporary identity that can be ASSUMED by a user, service, or AWS account. No long-term credentials.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9070848" y="1691640"/>
            <a:ext cx="2779776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070848" y="1691640"/>
            <a:ext cx="73152" cy="45262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10003536" y="2057400"/>
            <a:ext cx="914400" cy="9144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2136" y="2286000"/>
            <a:ext cx="457200" cy="4572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253728" y="315468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2200" dirty="0"/>
          </a:p>
        </p:txBody>
      </p:sp>
      <p:sp>
        <p:nvSpPr>
          <p:cNvPr id="31" name="Text 25"/>
          <p:cNvSpPr/>
          <p:nvPr/>
        </p:nvSpPr>
        <p:spPr>
          <a:xfrm>
            <a:off x="9299448" y="3749040"/>
            <a:ext cx="23225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documents that say WHAT is allowed. Attach to users, groups, or roles. The real "permissions" layer.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user — and why you should never use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3: Identity &amp; Security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47120" cy="146304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71600"/>
            <a:ext cx="73152" cy="1463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600200"/>
            <a:ext cx="1005840" cy="10058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85166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011680" y="1508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user is the account you created AWS with.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201168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unlimited power over EVERYTHING — billing, account closure, every service. It cannot be restricted, scoped, or limited.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017520"/>
            <a:ext cx="553212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3017520"/>
            <a:ext cx="73152" cy="3246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3200400"/>
            <a:ext cx="548640" cy="5486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33756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17320" y="32461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with root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85800" y="3749040"/>
            <a:ext cx="5120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long, unique, strong password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hardware MFA on it immediately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any access keys it has (delete them)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credentials in a vault. Don't memorize.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for the 5 things that REQUIRE root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172200" y="3017520"/>
            <a:ext cx="553212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72200" y="3017520"/>
            <a:ext cx="73152" cy="3246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400800" y="3200400"/>
            <a:ext cx="548640" cy="5486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333756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132320" y="32461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NEVER to do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400800" y="3749040"/>
            <a:ext cx="5120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console login with root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access keys for it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in scripts or CI/CD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credentials with teammates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the MFA "to save time"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Users vs IAM Roles — when to use which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3: Identity &amp; Security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grant permissions. Different lifespan, different use case. Choosing wrong is a common AWS-newbie mistake.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553212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83080"/>
            <a:ext cx="73152" cy="44348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965960"/>
            <a:ext cx="640080" cy="64008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212598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0876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USER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508760" y="2331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identity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85800" y="2834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static credentials. Lives until you delete it.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7240" y="333756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login (username + password)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access via access key + secret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optional but should be required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human team members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for: EC2 instances, Lambdas, CI/CD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72200" y="1783080"/>
            <a:ext cx="553212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72200" y="1783080"/>
            <a:ext cx="73152" cy="443484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0" y="1965960"/>
            <a:ext cx="640080" cy="640080"/>
          </a:xfrm>
          <a:prstGeom prst="ellipse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820" y="2125980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22376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7223760" y="2331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identity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6400800" y="2834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 by a service or user. Credentials auto-rotated and short-lived (~1 hour).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492240" y="333756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static credentials to leak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to EC2 → app gets temporary keys via metadata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Cross-account access without sharing keys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services, automation, cross-account access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prefer roles. Always.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an IAM policy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3: Identity &amp; Security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AWS permission decision comes down to a JSON document. Master this structure.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1247120" cy="224028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1783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0299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"Version": </a:t>
            </a:r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"2012-10-17"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27685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"Statement": [{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52374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"Effect":   </a:t>
            </a:r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"Allow"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7706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"Action":   </a:t>
            </a:r>
            <a:pPr indent="0" marL="0">
              <a:buNone/>
            </a:pPr>
            <a:r>
              <a:rPr lang="en-US" sz="1400" b="1" dirty="0">
                <a:solidFill>
                  <a:srgbClr val="4A9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"s3:GetObject"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017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"Resource": </a:t>
            </a:r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"arn:aws:s3:::kamilimu-bucket/*"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2644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"Condition":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buNone/>
            </a:pPr>
            <a:r>
              <a:rPr lang="en-US" sz="14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"Bool"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 </a:t>
            </a:r>
            <a:pPr indent="0" marL="0">
              <a:buNone/>
            </a:pPr>
            <a:r>
              <a:rPr lang="en-US" sz="14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"aws:MultiFactorAuthPresent"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4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"true"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}}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35112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}]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758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069080"/>
            <a:ext cx="2779776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4069080"/>
            <a:ext cx="73152" cy="21945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25196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4526280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5800" y="5029200"/>
            <a:ext cx="23225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or Deny. Default is Deny. Use Allow to grant; Deny to override.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28416" y="4069080"/>
            <a:ext cx="2779776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28416" y="4069080"/>
            <a:ext cx="73152" cy="219456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57016" y="425196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57016" y="4526280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s3:GetObject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557016" y="5029200"/>
            <a:ext cx="23225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API call(s) this applies to. Format: service:Operation. * means all.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99632" y="4069080"/>
            <a:ext cx="2779776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99632" y="4069080"/>
            <a:ext cx="73152" cy="2194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28232" y="425196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28232" y="4526280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ARN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428232" y="5029200"/>
            <a:ext cx="23225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AWS resource. Identified by Amazon Resource Name. * = all resources.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070848" y="4069080"/>
            <a:ext cx="2779776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070848" y="4069080"/>
            <a:ext cx="73152" cy="2194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99448" y="425196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99448" y="4526280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(optional)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299448" y="5029200"/>
            <a:ext cx="23225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policy applies — based on IP, time, MFA, tags, source service.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Identity-based vs Resource-based policies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3: Identity &amp; Security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JSON structure. Different attachment point. Different effective scope.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553212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83080"/>
            <a:ext cx="73152" cy="44348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965960"/>
            <a:ext cx="640080" cy="64008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212598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0876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IDENTITY-BASED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508760" y="2331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 to who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85800" y="28346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on a User, Group, or Role. Says "this identity can do X on resources Y."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5800" y="3383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703320"/>
            <a:ext cx="49377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policies (AWS-curated)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e.g. AmazonS3ReadOnlyAccess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Customer-managed policies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your own JSON, attached to user/role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policies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one-off, embedded in a specific identity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172200" y="1783080"/>
            <a:ext cx="553212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72200" y="1783080"/>
            <a:ext cx="73152" cy="443484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00800" y="1965960"/>
            <a:ext cx="640080" cy="640080"/>
          </a:xfrm>
          <a:prstGeom prst="ellipse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820" y="2125980"/>
            <a:ext cx="320040" cy="3200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22376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RESOURCE-BASED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7223760" y="2331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 to what</a:t>
            </a:r>
            <a:endParaRPr lang="en-US" sz="1700" dirty="0"/>
          </a:p>
        </p:txBody>
      </p:sp>
      <p:sp>
        <p:nvSpPr>
          <p:cNvPr id="23" name="Text 19"/>
          <p:cNvSpPr/>
          <p:nvPr/>
        </p:nvSpPr>
        <p:spPr>
          <a:xfrm>
            <a:off x="6400800" y="28346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on the resource itself. Says "these principals can do X on me." Needs a Principal field.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400800" y="3383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583680" y="3703320"/>
            <a:ext cx="49377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 policies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who can read/write THIS bucket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resource policies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who can invoke THIS function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key policies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who can use THIS encryption key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topic, SQS queue policies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AWS decides — policy evaluation logic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3: Identity &amp; Security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request hits AWS, it walks a decision tree. The rules are deterministic.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2249424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37360"/>
            <a:ext cx="2249424" cy="73152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9304" y="1965960"/>
            <a:ext cx="585216" cy="585216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9304" y="19659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108960"/>
            <a:ext cx="19751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arrives.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verdict: DENY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70632" y="1737360"/>
            <a:ext cx="2249424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70632" y="1737360"/>
            <a:ext cx="2249424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02736" y="1965960"/>
            <a:ext cx="585216" cy="58521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02736" y="19659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862072" y="265176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Deny?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07792" y="3108960"/>
            <a:ext cx="19751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policy says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Deny? → STOP, deny.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84064" y="1737360"/>
            <a:ext cx="2249424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84064" y="1737360"/>
            <a:ext cx="2249424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16168" y="1965960"/>
            <a:ext cx="585216" cy="5852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16168" y="19659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175504" y="265176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Allow?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21224" y="3108960"/>
            <a:ext cx="19751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policy says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Allow? → Continue.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97496" y="1737360"/>
            <a:ext cx="2249424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97496" y="1737360"/>
            <a:ext cx="2249424" cy="73152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0" y="1965960"/>
            <a:ext cx="585216" cy="585216"/>
          </a:xfrm>
          <a:prstGeom prst="ellipse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19659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488936" y="265176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met?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534656" y="3108960"/>
            <a:ext cx="19751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Time, IP, MFA, tags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match? → Continue.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710928" y="1737360"/>
            <a:ext cx="2249424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710928" y="1737360"/>
            <a:ext cx="2249424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543032" y="1965960"/>
            <a:ext cx="585216" cy="5852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43032" y="19659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9802368" y="265176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ALLOW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848088" y="3108960"/>
            <a:ext cx="19751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checks pass.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succeeds.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4526280"/>
            <a:ext cx="11247120" cy="173736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7200" y="4526280"/>
            <a:ext cx="73152" cy="17373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7240" y="4800600"/>
            <a:ext cx="640080" cy="64008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4960620"/>
            <a:ext cx="320040" cy="32004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1554480" y="4709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rules that decide every IAM question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1554480" y="5074920"/>
            <a:ext cx="10058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Default is DENY.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policy grants permission, you don't have it.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Explicit DENY wins.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policy denies, the request is denied — even if 99 others allow.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Allow must be explicit.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deny ≠ allow. You need an explicit Allow with no Deny overriding.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Principle of Least Privilege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3: Identity &amp; Security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71600"/>
            <a:ext cx="73152" cy="13716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50876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every identity only the permissions it needs to do its job — nothing more.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201168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EC2 instance only needs to read from one S3 bucket, that's the only permission its role should have. Not s3:* and not on all buckets.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55321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926080"/>
            <a:ext cx="73152" cy="3291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63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&amp; dangerous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3383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 ALL S3 actions on EVERY bucket in the account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3840480"/>
            <a:ext cx="5074920" cy="219456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931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297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"Effect": "Allow",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663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"Action": "s3:*",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50292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"Resource": "*"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5394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2200" y="2926080"/>
            <a:ext cx="55321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2926080"/>
            <a:ext cx="73152" cy="3291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3063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&amp; safe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0" y="3383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read access. Only one bucket. Only the right path.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3840480"/>
            <a:ext cx="5074920" cy="219456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3931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37960" y="42702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"Effect": "Allow",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37960" y="460857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"Action": "s3:GetObject",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37960" y="494690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"Resource":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37960" y="52852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"arn:aws:s3:::reports/2025/*"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37960" y="5623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0"/>
            <a:ext cx="137160" cy="1463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&amp; Encryption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Keys, secrets, and the math that protects your data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9601200" y="246888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secrets problem — and how to lose your job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3: Identity &amp; Security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passwords, API keys, encryption keys, OAuth tokens. They have to live somewhere. Wrong choices have consequences.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553212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83080"/>
            <a:ext cx="73152" cy="4434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965960"/>
            <a:ext cx="640080" cy="6400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212598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0876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SECRETS DIE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508760" y="2331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places they get leaked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85800" y="288036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in source code 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pushed to Git, then GitHub. Public forever, even after deletion.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files committed by accident 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.gitignore missed a directory.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Pasted into Slack 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now in your company's chat history forever.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logs 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script echoes a key, the log goes to a shared system.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 layers 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ENV vars persist in image history even after RUN.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172200" y="1783080"/>
            <a:ext cx="553212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72200" y="1783080"/>
            <a:ext cx="73152" cy="4434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0" y="1965960"/>
            <a:ext cx="640080" cy="6400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820" y="212598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22376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SECRETS LIVE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7223760" y="23317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should actually go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400800" y="288036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Secrets Manager 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purpose-built. Auto-rotation, audit, IAM-gated.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SSM Parameter Store 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simpler, mostly free for small scale.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HashiCorp Vault 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self-hosted, multi-cloud, very capable.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Secrets + sealed-secrets 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if you're running Kubernetes, integrate at that layer.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roles, not access keys 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best of all: no secret to leak.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• AWS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 vs SSM Parameter Store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3: Identity &amp; Security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store secrets on AWS. The choice between them is mostly about rotation and budget.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11247120" cy="59436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830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1783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58200" y="17830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Store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11247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3774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23774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specifically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58200" y="23774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+ secrets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1124712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9718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Auto-rotation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29718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built-in for RDS, custom Lambda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58200" y="29718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only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11247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5661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Cross-account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35661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via resource policies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58200" y="35661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160520"/>
            <a:ext cx="1124712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1605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00600" y="41605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$0.40 per secret per month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58200" y="41605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for Standard params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754880"/>
            <a:ext cx="11247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7548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size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00600" y="47548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KB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58200" y="47548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KB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5349240"/>
            <a:ext cx="1124712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53492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00600" y="53492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458200" y="53492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5943600"/>
            <a:ext cx="11247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59436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00600" y="59436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DB passwords, API keys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458200" y="59436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config, feature flags, dev secrets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• AWS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— the Key Management Service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3: Identity &amp; Security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47120" cy="11887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71600"/>
            <a:ext cx="73152" cy="1188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554480"/>
            <a:ext cx="822960" cy="8229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76022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83080" y="15544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AWS's managed encryption key service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783080" y="19659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Generates, stores, and audits encryption keys. Keys never leave AWS hardware security modules (HSMs).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697480"/>
            <a:ext cx="370332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2697480"/>
            <a:ext cx="73152" cy="35661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897380" y="3017520"/>
            <a:ext cx="822960" cy="82296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3223260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0080" y="39776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Keys (CMKs)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85800" y="4526280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master keys. Two flavors: AWS-managed (free, no control) and Customer-managed (you control rotation, policies, deletion).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297680" y="2697480"/>
            <a:ext cx="370332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297680" y="2697480"/>
            <a:ext cx="73152" cy="35661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737860" y="3017520"/>
            <a:ext cx="822960" cy="82296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223260"/>
            <a:ext cx="411480" cy="4114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480560" y="39776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 encryption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4526280" y="4526280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is encrypted with a Data Key. The Data Key is encrypted with the KMS Key. Both travel with the data. Scales to TB without performance hit.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8138160" y="2697480"/>
            <a:ext cx="370332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138160" y="2697480"/>
            <a:ext cx="73152" cy="35661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9578340" y="3017520"/>
            <a:ext cx="822960" cy="82296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0" y="3223260"/>
            <a:ext cx="411480" cy="4114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321040" y="39776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integration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8366760" y="4526280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S3, EBS, RDS, Lambda, Secrets Manager, and more. Tick the "encrypt" box, pick a KMS key, done.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rest vs in transit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3: Identity &amp; Security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threat models. Both need encryption. AWS makes both easy.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553212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83080"/>
            <a:ext cx="73152" cy="44348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965960"/>
            <a:ext cx="640080" cy="64008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212598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0876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REST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508760" y="23317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sitting on disk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85800" y="28346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against someone stealing the storage media (or hopping into the data center).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5800" y="3429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services with one-click encryption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74904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— SSE-S3, SSE-KMS, SSE-C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— checkbox at volume creation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— checkbox at DB creation (immutable)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DynamoDB, EFS, FSx, Glacier — all support KMS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72200" y="1783080"/>
            <a:ext cx="553212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72200" y="1783080"/>
            <a:ext cx="73152" cy="443484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00800" y="1965960"/>
            <a:ext cx="640080" cy="640080"/>
          </a:xfrm>
          <a:prstGeom prst="ellipse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820" y="2125980"/>
            <a:ext cx="320040" cy="3200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22376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TRANSIT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7223760" y="2331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moving over the network</a:t>
            </a:r>
            <a:endParaRPr lang="en-US" sz="1700" dirty="0"/>
          </a:p>
        </p:txBody>
      </p:sp>
      <p:sp>
        <p:nvSpPr>
          <p:cNvPr id="23" name="Text 19"/>
          <p:cNvSpPr/>
          <p:nvPr/>
        </p:nvSpPr>
        <p:spPr>
          <a:xfrm>
            <a:off x="6400800" y="28346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against someone reading or tampering with packets between client and server.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400800" y="3429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583680" y="374904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everywhere — HTTPS, not HTTP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/ NLB / CloudFront terminate TLS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Certificate Manager (ACM) — free certs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/ Direct Connect for on-prem links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Endpoints — never leave AWS network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0"/>
            <a:ext cx="137160" cy="1463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at the edge — WAF, Shield, VPC Endpoints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9601200" y="246888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 vs NACLs — quick recap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3: Identity &amp; Security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in detail in Session 2. The 30-second refresher you need today.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11247120" cy="548640"/>
          </a:xfrm>
          <a:prstGeom prst="rect">
            <a:avLst/>
          </a:prstGeom>
          <a:solidFill>
            <a:srgbClr val="0F2A4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83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43400" y="1783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58200" y="17830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11247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331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43400" y="23317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(ENI)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58200" y="23317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1124712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880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43400" y="28803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58200" y="28803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429000"/>
            <a:ext cx="11247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4290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types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43400" y="34290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only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58200" y="34290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+ Deny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977640"/>
            <a:ext cx="1124712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977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behaviour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43400" y="3977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everything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58200" y="39776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everything (default NACL)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4526280"/>
            <a:ext cx="11247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5262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order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343400" y="45262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evaluated together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458200" y="4526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Numbered, first match wins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5074920"/>
            <a:ext cx="1124712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5074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use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343400" y="50749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Per-tier (web SG, app SG, db SG)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458200" y="50749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specific IP / subnet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57200" y="5715000"/>
            <a:ext cx="11247120" cy="640080"/>
          </a:xfrm>
          <a:prstGeom prst="rect">
            <a:avLst/>
          </a:prstGeom>
          <a:solidFill>
            <a:srgbClr val="EAF2F8"/>
          </a:solidFill>
          <a:ln w="6350">
            <a:solidFill>
              <a:srgbClr val="4A90C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5800" y="5806440"/>
            <a:ext cx="457200" cy="45720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5920740"/>
            <a:ext cx="228600" cy="22860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1325880" y="57150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practice: </a:t>
            </a:r>
            <a:pPr indent="0" marL="0">
              <a:buNone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SGs do most security work. Reach for NACLs only when you need to block specific IPs at the subnet level.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WAF &amp; Shield — perimeter defense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3: Identity &amp; Security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services that sit at the edge, blocking bad traffic before it reaches your app.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553212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83080"/>
            <a:ext cx="73152" cy="44348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965960"/>
            <a:ext cx="640080" cy="64008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212598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0876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WAF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508760" y="23317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7 — application firewall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85800" y="28346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Inspects HTTP/HTTPS requests. Blocks bad payloads. Rules sit in front of CloudFront, ALB, API Gateway.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5800" y="3520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blocks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840480"/>
            <a:ext cx="49377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&amp; cross-site scripting (XSS)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bots, scrapers, vulnerability scanners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Geo-blocks — keep out unwanted regions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— protect against abuse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rule groups — OWASP Top 10 in a click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72200" y="1783080"/>
            <a:ext cx="553212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72200" y="1783080"/>
            <a:ext cx="73152" cy="443484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00800" y="1965960"/>
            <a:ext cx="640080" cy="640080"/>
          </a:xfrm>
          <a:prstGeom prst="ellipse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820" y="2125980"/>
            <a:ext cx="320040" cy="3200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22376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SHIELD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7223760" y="2331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3/4 — DDoS protection</a:t>
            </a:r>
            <a:endParaRPr lang="en-US" sz="1700" dirty="0"/>
          </a:p>
        </p:txBody>
      </p:sp>
      <p:sp>
        <p:nvSpPr>
          <p:cNvPr id="23" name="Text 19"/>
          <p:cNvSpPr/>
          <p:nvPr/>
        </p:nvSpPr>
        <p:spPr>
          <a:xfrm>
            <a:off x="6400800" y="28346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Absorbs and mitigates distributed denial-of-service attacks against AWS resources.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400800" y="3520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tiers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583680" y="3840480"/>
            <a:ext cx="49377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free, automatic. Protects against common L3/L4 attacks (SYN flood, UDP reflection).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$3,000/month. 24/7 response team, advanced detection, cost protection during attacks.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with WAF, CloudFront, Route 53 for full protection stack.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Endpoints — keep traffic off the internet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3: Identity &amp; Security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AWS services from your VPC without routing through an Internet Gateway or NAT Gateway.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11247120" cy="128016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83080"/>
            <a:ext cx="73152" cy="12801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965960"/>
            <a:ext cx="914400" cy="91440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9456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920240" y="19202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highway to AWS services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920240" y="242316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private subnet can reach S3, DynamoDB, Secrets Manager, KMS etc. via AWS's internal network — no IGW, no NAT GW, lower latency, lower bill, more secure.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200400"/>
            <a:ext cx="553212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3200400"/>
            <a:ext cx="73152" cy="30632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3337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endpoints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85800" y="3703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and DynamoDB only — free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68680" y="4023360"/>
            <a:ext cx="4937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route in your route table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to S3/DynamoDB ARNs is local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transfer charges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whenever you can — they're free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172200" y="3200400"/>
            <a:ext cx="553212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72200" y="3200400"/>
            <a:ext cx="73152" cy="306324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0" y="3337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endpoints (PrivateLink)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400800" y="37033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other AWS services — hourly + per-GB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583680" y="4023360"/>
            <a:ext cx="4937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an ENI (private IP) in your subnet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responds at the private IP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Secrets Manager, KMS, SQS, etc.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hourly cost — use selectively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0"/>
            <a:ext cx="137160" cy="1463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Audit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what happened — and getting an alert when it does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9601200" y="246888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• AWS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 — the audit log for everything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3: Identity &amp; Security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47120" cy="128016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71600"/>
            <a:ext cx="73152" cy="12801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554480"/>
            <a:ext cx="914400" cy="91440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8308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83080" y="14630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call against AWS — logged.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783080" y="19659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Who, what, when, where from, and the response. The first thing any incident response team opens. Free for the basic management trail.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2788920"/>
            <a:ext cx="37033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2788920"/>
            <a:ext cx="73152" cy="1691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29718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WHO?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0080" y="338328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identity that made the call (user, role, root)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297680" y="2788920"/>
            <a:ext cx="37033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297680" y="2788920"/>
            <a:ext cx="73152" cy="1691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80560" y="29718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WHAT?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480560" y="338328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action — e.g. iam:CreateUser, s3:DeleteBucket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138160" y="2788920"/>
            <a:ext cx="37033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138160" y="2788920"/>
            <a:ext cx="73152" cy="1691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21040" y="29718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WHEN?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321040" y="338328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timestamp — second precision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4617720"/>
            <a:ext cx="37033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57200" y="4617720"/>
            <a:ext cx="73152" cy="1691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0080" y="48006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WHERE?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40080" y="521208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IP, user agent (browser, CLI, SDK)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297680" y="4617720"/>
            <a:ext cx="37033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297680" y="4617720"/>
            <a:ext cx="73152" cy="1691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480560" y="48006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WHAT?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4480560" y="521208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resource ARN affected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8138160" y="4617720"/>
            <a:ext cx="37033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8138160" y="4617720"/>
            <a:ext cx="73152" cy="1691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321040" y="48006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RESULT?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8321040" y="521208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Success, or the error code if it failed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• AWS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detection stack — GuardDuty, Config, Security Hub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3: Identity &amp; Security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 records WHAT happened. These three help you find what was BAD.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70332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691640"/>
            <a:ext cx="73152" cy="45720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659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GuardDuty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spc="1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detection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017520"/>
            <a:ext cx="3246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ML-powered analysis of CloudTrail, VPC Flow Logs, and DNS logs. Flags suspicious behavior: crypto-mining EC2, unusual API calls, port scans, leaked credentials being used.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5349240"/>
            <a:ext cx="3246120" cy="77724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3492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Alert: "EC2 i-abc is making DNS queries to known C2 server."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97680" y="1691640"/>
            <a:ext cx="370332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0" y="1691640"/>
            <a:ext cx="73152" cy="45720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19659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480560" y="25603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spc="1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history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26280" y="3017520"/>
            <a:ext cx="3246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resource configuration over time. Flags drift from expected state. Can run rules against your config ("No S3 buckets should be public").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26280" y="5349240"/>
            <a:ext cx="3246120" cy="77724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53492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Alert: "Bucket reports was made public on 2026-06-15."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138160" y="1691640"/>
            <a:ext cx="370332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38160" y="1691640"/>
            <a:ext cx="73152" cy="45720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19659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Hub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321040" y="25603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spc="1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pane of glass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66760" y="3017520"/>
            <a:ext cx="3246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findings from GuardDuty, Config, Inspector, Macie, and 3rd-party tools. Maps them to standards (CIS, PCI-DSS). One dashboard, one priority list.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366760" y="5349240"/>
            <a:ext cx="3246120" cy="77724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58200" y="53492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Dashboard: 12 HIGH, 47 MEDIUM, 130 LOW findings.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0"/>
            <a:ext cx="137160" cy="1463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burns beginners — and how to dodge it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9601200" y="246888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ways to lose your AWS account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3: Identity &amp; Security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show up in security incident reports more than anything else. All preventable.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7033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691640"/>
            <a:ext cx="73152" cy="2240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92024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2045970"/>
            <a:ext cx="251460" cy="2514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80160" y="19659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S3 bucket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85800" y="251460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"It's just test data" — but it's PII, credentials, or customer records. Default to private; review every "Public" flag.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297680" y="1691640"/>
            <a:ext cx="37033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297680" y="1691640"/>
            <a:ext cx="73152" cy="2240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80560" y="192024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290" y="2045970"/>
            <a:ext cx="251460" cy="2514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120640" y="19659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keys in Git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526280" y="251460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 once, mirrored forever. Bots scan GitHub for AKIA keys within seconds. Use git-secrets or pre-commit hooks.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8138160" y="1691640"/>
            <a:ext cx="37033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138160" y="1691640"/>
            <a:ext cx="73152" cy="2240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321040" y="192024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770" y="2045970"/>
            <a:ext cx="251460" cy="2514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961120" y="19659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MFA on root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8366760" y="251460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leaked password = total account loss. Set MFA the same hour you create the account.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457200" y="4069080"/>
            <a:ext cx="37033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57200" y="4069080"/>
            <a:ext cx="73152" cy="2240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40080" y="429768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" y="4423410"/>
            <a:ext cx="251460" cy="2514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280160" y="43434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Over-permissive IAM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685800" y="489204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AdministratorAccess granted "just to get things working." It never gets removed. Apply least privilege from day one.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4297680" y="4069080"/>
            <a:ext cx="37033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297680" y="4069080"/>
            <a:ext cx="73152" cy="2240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4480560" y="429768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6290" y="4423410"/>
            <a:ext cx="251460" cy="25146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120640" y="43434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credentials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4526280" y="489204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.env files, in Docker images, in CloudFormation parameters. Use Secrets Manager or IAM roles.</a:t>
            </a:r>
            <a:endParaRPr lang="en-US" sz="1150" dirty="0"/>
          </a:p>
        </p:txBody>
      </p:sp>
      <p:sp>
        <p:nvSpPr>
          <p:cNvPr id="38" name="Shape 31"/>
          <p:cNvSpPr/>
          <p:nvPr/>
        </p:nvSpPr>
        <p:spPr>
          <a:xfrm>
            <a:off x="8138160" y="4069080"/>
            <a:ext cx="37033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8138160" y="4069080"/>
            <a:ext cx="73152" cy="2240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8321040" y="429768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6770" y="4423410"/>
            <a:ext cx="251460" cy="25146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8961120" y="43434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CloudTrail</a:t>
            </a:r>
            <a:endParaRPr lang="en-US" sz="1400" dirty="0"/>
          </a:p>
        </p:txBody>
      </p:sp>
      <p:sp>
        <p:nvSpPr>
          <p:cNvPr id="43" name="Text 35"/>
          <p:cNvSpPr/>
          <p:nvPr/>
        </p:nvSpPr>
        <p:spPr>
          <a:xfrm>
            <a:off x="8366760" y="489204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single-region only. If you don't have an audit log, you cannot investigate the breach you just suffered.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AWS account — Day 1 hardening checklist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3: Identity &amp; Security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do nothing else, do these eight things in the first hour of any new AWS account.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37360"/>
            <a:ext cx="73152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874520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7373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45920" y="17373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MFA on the root user (hardware MFA preferred)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11247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331720"/>
            <a:ext cx="73152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468880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2331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45920" y="23317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any access keys belonging to the root user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11247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926080"/>
            <a:ext cx="73152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063240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2926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45920" y="292608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IAM admin user for yourself — and enable MFA on it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11247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520440"/>
            <a:ext cx="73152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3657600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35204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645920" y="35204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IAM group for admins; attach AdministratorAccess to the group, not the user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4114800"/>
            <a:ext cx="11247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4114800"/>
            <a:ext cx="73152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4251960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114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645920" y="41148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strong password policy (min length, rotation, complexity)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4709160"/>
            <a:ext cx="11247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4709160"/>
            <a:ext cx="73152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5800" y="4846320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97280" y="47091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645920" y="47091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CloudTrail in ALL regions, log to an S3 bucket with versioning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57200" y="5303520"/>
            <a:ext cx="11247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7200" y="5303520"/>
            <a:ext cx="73152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5800" y="5440680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97280" y="5303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645920" y="53035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budget alert ($1, $5, $10) — catch surprises early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57200" y="5897880"/>
            <a:ext cx="11247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57200" y="5897880"/>
            <a:ext cx="73152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5800" y="6035040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97280" y="5897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645920" y="589788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GuardDuty in your primary region (free 30-day trial, then pennies)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we've covered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3: Identity &amp; Security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35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1732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760220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15819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 Triad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234440" y="187452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Confidentiality, Integrity, Availability. Every control protects at least one.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297680" y="141732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297680" y="141732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60" y="1760220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074920" y="15819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074920" y="187452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 → Network → Host → App → Data. Stack the layers.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138160" y="141732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138160" y="141732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321040" y="164592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340" y="1760220"/>
            <a:ext cx="228600" cy="2286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915400" y="15819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AuthN ≠ AuthZ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8915400" y="187452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are you" vs "what can you do." Two different questions.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457200" y="274320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57200" y="274320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086100"/>
            <a:ext cx="228600" cy="2286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234440" y="29077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building blocks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1234440" y="320040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Groups, Roles, Policies. Prefer roles over users.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4297680" y="274320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4297680" y="274320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4480560" y="297180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860" y="3086100"/>
            <a:ext cx="228600" cy="22860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074920" y="29077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structure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5074920" y="320040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Effect, Action, Resource, Condition. Explicit Deny always wins.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8138160" y="274320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8138160" y="274320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8321040" y="297180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5340" y="3086100"/>
            <a:ext cx="228600" cy="22860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8915400" y="29077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&amp; KMS</a:t>
            </a:r>
            <a:endParaRPr lang="en-US" sz="1300" dirty="0"/>
          </a:p>
        </p:txBody>
      </p:sp>
      <p:sp>
        <p:nvSpPr>
          <p:cNvPr id="42" name="Text 34"/>
          <p:cNvSpPr/>
          <p:nvPr/>
        </p:nvSpPr>
        <p:spPr>
          <a:xfrm>
            <a:off x="8915400" y="320040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hardcode. Use Secrets Manager or Parameter Store. Encrypt with KMS.</a:t>
            </a:r>
            <a:endParaRPr lang="en-US" sz="1050" dirty="0"/>
          </a:p>
        </p:txBody>
      </p:sp>
      <p:sp>
        <p:nvSpPr>
          <p:cNvPr id="43" name="Shape 35"/>
          <p:cNvSpPr/>
          <p:nvPr/>
        </p:nvSpPr>
        <p:spPr>
          <a:xfrm>
            <a:off x="457200" y="406908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4" name="Shape 36"/>
          <p:cNvSpPr/>
          <p:nvPr/>
        </p:nvSpPr>
        <p:spPr>
          <a:xfrm>
            <a:off x="457200" y="406908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640080" y="429768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380" y="4411980"/>
            <a:ext cx="228600" cy="228600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1234440" y="42336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48" name="Text 39"/>
          <p:cNvSpPr/>
          <p:nvPr/>
        </p:nvSpPr>
        <p:spPr>
          <a:xfrm>
            <a:off x="1234440" y="452628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 logs everything. GuardDuty finds anomalies. Config tracks drift.</a:t>
            </a:r>
            <a:endParaRPr lang="en-US" sz="1050" dirty="0"/>
          </a:p>
        </p:txBody>
      </p:sp>
      <p:sp>
        <p:nvSpPr>
          <p:cNvPr id="49" name="Shape 40"/>
          <p:cNvSpPr/>
          <p:nvPr/>
        </p:nvSpPr>
        <p:spPr>
          <a:xfrm>
            <a:off x="4297680" y="406908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0" name="Shape 41"/>
          <p:cNvSpPr/>
          <p:nvPr/>
        </p:nvSpPr>
        <p:spPr>
          <a:xfrm>
            <a:off x="4297680" y="406908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1" name="Shape 42"/>
          <p:cNvSpPr/>
          <p:nvPr/>
        </p:nvSpPr>
        <p:spPr>
          <a:xfrm>
            <a:off x="4480560" y="429768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pic>
        <p:nvPicPr>
          <p:cNvPr id="5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4860" y="4411980"/>
            <a:ext cx="228600" cy="228600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5074920" y="42336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1300" dirty="0"/>
          </a:p>
        </p:txBody>
      </p:sp>
      <p:sp>
        <p:nvSpPr>
          <p:cNvPr id="54" name="Text 44"/>
          <p:cNvSpPr/>
          <p:nvPr/>
        </p:nvSpPr>
        <p:spPr>
          <a:xfrm>
            <a:off x="5074920" y="452628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S3, leaked keys, no MFA, over-permissive IAM. All preventable.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your AWS account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today's session, applied to your own account. Submit screenshots in the cohort channel by next session.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241280" y="777240"/>
            <a:ext cx="1280160" cy="12801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1097280"/>
            <a:ext cx="640080" cy="640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2194560"/>
            <a:ext cx="1828800" cy="2331720"/>
          </a:xfrm>
          <a:prstGeom prst="rect">
            <a:avLst/>
          </a:prstGeom>
          <a:solidFill>
            <a:srgbClr val="1A4F7A"/>
          </a:solidFill>
          <a:ln w="9525">
            <a:solidFill>
              <a:srgbClr val="FF990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78992" y="2377440"/>
            <a:ext cx="585216" cy="5852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78992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864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down root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3474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virtual MFA on the root user. Delete any root access keys.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331720" y="2194560"/>
            <a:ext cx="1828800" cy="2331720"/>
          </a:xfrm>
          <a:prstGeom prst="rect">
            <a:avLst/>
          </a:prstGeom>
          <a:solidFill>
            <a:srgbClr val="1A4F7A"/>
          </a:solidFill>
          <a:ln w="9525">
            <a:solidFill>
              <a:srgbClr val="FF990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953512" y="2377440"/>
            <a:ext cx="585216" cy="5852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53512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242316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admin IAM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423160" y="3474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IAM user with MFA. Add to an Admins group with AdministratorAccess.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206240" y="2194560"/>
            <a:ext cx="1828800" cy="2331720"/>
          </a:xfrm>
          <a:prstGeom prst="rect">
            <a:avLst/>
          </a:prstGeom>
          <a:solidFill>
            <a:srgbClr val="1A4F7A"/>
          </a:solidFill>
          <a:ln w="9525">
            <a:solidFill>
              <a:srgbClr val="FF990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828032" y="2377440"/>
            <a:ext cx="585216" cy="5852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28032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429768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scoped role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297680" y="3474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role with READ-only access to one S3 bucket. No wildcards.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080760" y="2194560"/>
            <a:ext cx="1828800" cy="2331720"/>
          </a:xfrm>
          <a:prstGeom prst="rect">
            <a:avLst/>
          </a:prstGeom>
          <a:solidFill>
            <a:srgbClr val="1A4F7A"/>
          </a:solidFill>
          <a:ln w="9525">
            <a:solidFill>
              <a:srgbClr val="FF990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702552" y="2377440"/>
            <a:ext cx="585216" cy="5852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702552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617220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role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172200" y="3474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EC2, attach the role, prove it can list ONE bucket but not others.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955280" y="2194560"/>
            <a:ext cx="1828800" cy="2331720"/>
          </a:xfrm>
          <a:prstGeom prst="rect">
            <a:avLst/>
          </a:prstGeom>
          <a:solidFill>
            <a:srgbClr val="1A4F7A"/>
          </a:solidFill>
          <a:ln w="9525">
            <a:solidFill>
              <a:srgbClr val="FF990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8577072" y="2377440"/>
            <a:ext cx="585216" cy="5852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577072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804672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 secret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046720" y="3474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a fake DB password in Secrets Manager. Read it from your EC2.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9829800" y="2194560"/>
            <a:ext cx="1828800" cy="2331720"/>
          </a:xfrm>
          <a:prstGeom prst="rect">
            <a:avLst/>
          </a:prstGeom>
          <a:solidFill>
            <a:srgbClr val="1A4F7A"/>
          </a:solidFill>
          <a:ln w="9525">
            <a:solidFill>
              <a:srgbClr val="FF990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10451592" y="2377440"/>
            <a:ext cx="585216" cy="5852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451592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992124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the lights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9921240" y="3474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CloudTrail in all regions + GuardDuty in your primary region.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57200" y="4709160"/>
            <a:ext cx="11247120" cy="1600200"/>
          </a:xfrm>
          <a:prstGeom prst="rect">
            <a:avLst/>
          </a:prstGeom>
          <a:solidFill>
            <a:srgbClr val="1A4F7A"/>
          </a:solidFill>
          <a:ln w="9525">
            <a:solidFill>
              <a:srgbClr val="FF990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85800" y="4800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SUBMIT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85800" y="5120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685800" y="54406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MFA enabled, IAM user with MFA, scoped role, secret retrieved on EC2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4434840" y="5120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JSON policy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4434840" y="54406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least-privilege S3 policy. We'll review it together next session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8183880" y="5120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8183880" y="54406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sentences: what did you almost mess up, and what would you do differently?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before Session 4. Post in the cohort channel. We'll review patterns and pitfalls.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10058400" y="457200"/>
            <a:ext cx="1645920" cy="16459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274320" y="5029200"/>
            <a:ext cx="1280160" cy="12801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57200" y="2286000"/>
            <a:ext cx="137160" cy="23774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822960" y="2194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822960" y="26517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8000" dirty="0"/>
          </a:p>
        </p:txBody>
      </p:sp>
      <p:sp>
        <p:nvSpPr>
          <p:cNvPr id="7" name="Text 3"/>
          <p:cNvSpPr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homework attempts and any IAM policies that wouldn't behave. We'll debug together.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64008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3: Identity &amp; Security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Identity &amp; Security — Session 3</dc:title>
  <dc:subject>PptxGenJS Presentation</dc:subject>
  <dc:creator>KamiLimu Cloud Track</dc:creator>
  <cp:lastModifiedBy>KamiLimu Cloud Track</cp:lastModifiedBy>
  <cp:revision>1</cp:revision>
  <dcterms:created xsi:type="dcterms:W3CDTF">2026-06-18T14:14:37Z</dcterms:created>
  <dcterms:modified xsi:type="dcterms:W3CDTF">2026-06-18T14:14:37Z</dcterms:modified>
</cp:coreProperties>
</file>