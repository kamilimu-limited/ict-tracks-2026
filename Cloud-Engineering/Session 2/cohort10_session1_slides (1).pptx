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0033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7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10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0241280" y="365760"/>
            <a:ext cx="1371600" cy="1371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82880" y="5120640"/>
            <a:ext cx="1097280" cy="10972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972800" y="5303520"/>
            <a:ext cx="822960" cy="8229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57200" y="2194560"/>
            <a:ext cx="137160" cy="2377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Text 1"/>
          <p:cNvSpPr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822960" y="2606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Services &amp;</a:t>
            </a:r>
            <a:endParaRPr lang="en-US" sz="5400" dirty="0"/>
          </a:p>
        </p:txBody>
      </p:sp>
      <p:sp>
        <p:nvSpPr>
          <p:cNvPr id="8" name="Text 3"/>
          <p:cNvSpPr/>
          <p:nvPr/>
        </p:nvSpPr>
        <p:spPr>
          <a:xfrm>
            <a:off x="822960" y="3429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Solutions</a:t>
            </a:r>
            <a:endParaRPr lang="en-US" sz="5400" dirty="0"/>
          </a:p>
        </p:txBody>
      </p:sp>
      <p:sp>
        <p:nvSpPr>
          <p:cNvPr id="9" name="Text 4"/>
          <p:cNvSpPr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foundation in cloud computing — IaaS, virtualization, EC2, containers, and storage on AWS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6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•  Mark Kibara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536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cloud really is — five characteristics, CapEx → OpEx, elasticity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137160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3" name="Shape 11"/>
          <p:cNvSpPr/>
          <p:nvPr/>
        </p:nvSpPr>
        <p:spPr>
          <a:xfrm>
            <a:off x="4251960" y="1371600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2"/>
          <p:cNvSpPr/>
          <p:nvPr/>
        </p:nvSpPr>
        <p:spPr>
          <a:xfrm>
            <a:off x="4434840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20640" y="1536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IaaS, PaaS, SaaS — and where this cohort lives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6"/>
          <p:cNvSpPr/>
          <p:nvPr/>
        </p:nvSpPr>
        <p:spPr>
          <a:xfrm>
            <a:off x="8046720" y="1371600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7"/>
          <p:cNvSpPr/>
          <p:nvPr/>
        </p:nvSpPr>
        <p:spPr>
          <a:xfrm>
            <a:off x="8229600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915400" y="1536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reality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Regions, Availability Zones, and why your app should span them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21"/>
          <p:cNvSpPr/>
          <p:nvPr/>
        </p:nvSpPr>
        <p:spPr>
          <a:xfrm>
            <a:off x="457200" y="3090672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2"/>
          <p:cNvSpPr/>
          <p:nvPr/>
        </p:nvSpPr>
        <p:spPr>
          <a:xfrm>
            <a:off x="640080" y="3227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25880" y="32552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68503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Hypervisors, VMs, and the technology that makes the cloud possible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51960" y="3090672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8" name="Shape 26"/>
          <p:cNvSpPr/>
          <p:nvPr/>
        </p:nvSpPr>
        <p:spPr>
          <a:xfrm>
            <a:off x="4251960" y="3090672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7"/>
          <p:cNvSpPr/>
          <p:nvPr/>
        </p:nvSpPr>
        <p:spPr>
          <a:xfrm>
            <a:off x="4434840" y="3227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120640" y="32552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on AWS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34840" y="368503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EC2, ECS, EKS, Fargate — the spectrum from VMs to serverless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3090672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3" name="Shape 31"/>
          <p:cNvSpPr/>
          <p:nvPr/>
        </p:nvSpPr>
        <p:spPr>
          <a:xfrm>
            <a:off x="8046720" y="3090672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Text 32"/>
          <p:cNvSpPr/>
          <p:nvPr/>
        </p:nvSpPr>
        <p:spPr>
          <a:xfrm>
            <a:off x="8229600" y="3227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915400" y="32552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on AWS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29600" y="368503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EBS, EFS, S3 — block, file, and object storage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809744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8" name="Shape 36"/>
          <p:cNvSpPr/>
          <p:nvPr/>
        </p:nvSpPr>
        <p:spPr>
          <a:xfrm>
            <a:off x="457200" y="4809744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Text 37"/>
          <p:cNvSpPr/>
          <p:nvPr/>
        </p:nvSpPr>
        <p:spPr>
          <a:xfrm>
            <a:off x="640080" y="49469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325880" y="49743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Self-hosting &amp; Minio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" y="5404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you'd run your own S3, and how to do it on EC2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51960" y="4809744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3" name="Shape 41"/>
          <p:cNvSpPr/>
          <p:nvPr/>
        </p:nvSpPr>
        <p:spPr>
          <a:xfrm>
            <a:off x="4251960" y="4809744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4" name="Text 42"/>
          <p:cNvSpPr/>
          <p:nvPr/>
        </p:nvSpPr>
        <p:spPr>
          <a:xfrm>
            <a:off x="4434840" y="49469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120640" y="49743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&amp; Cost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434840" y="5404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model, bill shock, and habits to build now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046720" y="4809744"/>
            <a:ext cx="3657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8" name="Shape 46"/>
          <p:cNvSpPr/>
          <p:nvPr/>
        </p:nvSpPr>
        <p:spPr>
          <a:xfrm>
            <a:off x="8046720" y="4809744"/>
            <a:ext cx="73152" cy="1554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9" name="Text 47"/>
          <p:cNvSpPr/>
          <p:nvPr/>
        </p:nvSpPr>
        <p:spPr>
          <a:xfrm>
            <a:off x="8229600" y="49469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8915400" y="49743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229600" y="5404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EC2, install Minio, upload via S3 CLI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"the cloud" actually is — beyond the marketing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cloud is just someone else's computer"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73152" cy="1371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true. Misses the point.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in someone else's data center is just hosting. What makes "the cloud" different is the operating model — how you get it, pay for it, and manage it. That's where the magic lives.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657600" cy="32004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Server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hardware. Wait weeks. Pay upfront. Hope you sized it right.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51960" y="3108960"/>
            <a:ext cx="3657600" cy="32004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Text 13"/>
          <p:cNvSpPr/>
          <p:nvPr/>
        </p:nvSpPr>
        <p:spPr>
          <a:xfrm>
            <a:off x="452628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/ Hosting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39776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a server by the month. Faster to start, but fixed size, fixed price.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3108960"/>
            <a:ext cx="3657600" cy="3200400"/>
          </a:xfrm>
          <a:prstGeom prst="rect">
            <a:avLst/>
          </a:prstGeom>
          <a:solidFill>
            <a:srgbClr val="0F2A47"/>
          </a:solidFill>
          <a:ln w="9525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6"/>
          <p:cNvSpPr/>
          <p:nvPr/>
        </p:nvSpPr>
        <p:spPr>
          <a:xfrm>
            <a:off x="8046720" y="3108960"/>
            <a:ext cx="36576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7"/>
          <p:cNvSpPr/>
          <p:nvPr/>
        </p:nvSpPr>
        <p:spPr>
          <a:xfrm>
            <a:off x="832104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39776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in minutes. Pay per second. Scale up and down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characteristics that define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U.S. National Institute of Standards and Technology (NIST SP 800-145)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249424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1216152" y="2011680"/>
            <a:ext cx="731520" cy="7315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21945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297180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self-service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3794760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servers, databases, storage in minutes via API or console. No tickets, no humans, no waiting.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816352" y="1691640"/>
            <a:ext cx="2249424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2816352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3575304" y="2011680"/>
            <a:ext cx="731520" cy="7315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219456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99232" y="297180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network access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044952" y="3794760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reachable over standard networks — laptops, phones, IoT, anywhere.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175504" y="1691640"/>
            <a:ext cx="2249424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Shape 17"/>
          <p:cNvSpPr/>
          <p:nvPr/>
        </p:nvSpPr>
        <p:spPr>
          <a:xfrm>
            <a:off x="5175504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Shape 18"/>
          <p:cNvSpPr/>
          <p:nvPr/>
        </p:nvSpPr>
        <p:spPr>
          <a:xfrm>
            <a:off x="5934456" y="2011680"/>
            <a:ext cx="731520" cy="7315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219456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58384" y="297180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pooling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404104" y="3794760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Provider's hardware serves many customers via virtualization. You don't know — or care — which physical box runs your workload.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534656" y="1691640"/>
            <a:ext cx="2249424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2"/>
          <p:cNvSpPr/>
          <p:nvPr/>
        </p:nvSpPr>
        <p:spPr>
          <a:xfrm>
            <a:off x="7534656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Shape 23"/>
          <p:cNvSpPr/>
          <p:nvPr/>
        </p:nvSpPr>
        <p:spPr>
          <a:xfrm>
            <a:off x="8293608" y="2011680"/>
            <a:ext cx="731520" cy="7315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219456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717536" y="297180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elasticity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763256" y="3794760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scales up AND down quickly, often automatically, to match demand.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9893808" y="1691640"/>
            <a:ext cx="2249424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3" name="Shape 27"/>
          <p:cNvSpPr/>
          <p:nvPr/>
        </p:nvSpPr>
        <p:spPr>
          <a:xfrm>
            <a:off x="9893808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Shape 28"/>
          <p:cNvSpPr/>
          <p:nvPr/>
        </p:nvSpPr>
        <p:spPr>
          <a:xfrm>
            <a:off x="10652760" y="2011680"/>
            <a:ext cx="731520" cy="7315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5640" y="2194560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076688" y="297180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service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10122408" y="3794760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is metered (CPU-seconds, GB-months, requests). You pay only for what you actually used.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CapEx to OpEx — the financial shift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5321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532120" cy="5029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— Capital Expenditure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 server for KES 800,000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Depreciate over 5 years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upfront — capital locked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your sizing was correct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refresh every 3–5 years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capacity = wasted money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55321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5532120" cy="502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2"/>
          <p:cNvSpPr/>
          <p:nvPr/>
        </p:nvSpPr>
        <p:spPr>
          <a:xfrm>
            <a:off x="635508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— Operational Expenditure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model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423160"/>
            <a:ext cx="5349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a server in 60 seconds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second of usage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capital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size? Change it in 1 click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refresh is AWS's problem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= turn it off, stop paying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≠ Elasticity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get used interchangeably. They are NOT the same thing.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21031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handle more load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5603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capability. You can add more servers (horizontal) or make a server bigger (vertical) to cope with growth. Whether it happens automatically isn't part of the definition.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73152" cy="21031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scale up AND down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5603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behavior. The system grows when demand grows and — crucially — shrinks when demand drops. Shrinking is what saves you money. This is the magic the cloud added on top of scalability.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47120" cy="21031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73152" cy="21031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Shape 18"/>
          <p:cNvSpPr/>
          <p:nvPr/>
        </p:nvSpPr>
        <p:spPr>
          <a:xfrm>
            <a:off x="777240" y="420624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366260"/>
            <a:ext cx="320040" cy="320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0020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analogy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600200" y="4572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is owning a stretchy waistband.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600200" y="50292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is the waistband stretching at lunch and shrinking back as you digest — on its own. Cloud done well is elastic. Your bill should shrink when traffic dies down.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IaaS, PaaS, SaaS — who manages what?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vs PaaS vs SaaS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managed = less control. Pick the layer that fits the problem.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033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703320" cy="6400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3154680" cy="384048"/>
          </a:xfrm>
          <a:prstGeom prst="rect">
            <a:avLst/>
          </a:prstGeom>
          <a:solidFill>
            <a:srgbClr val="FF9900"/>
          </a:solidFill>
          <a:ln w="63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ext 11"/>
          <p:cNvSpPr/>
          <p:nvPr/>
        </p:nvSpPr>
        <p:spPr>
          <a:xfrm>
            <a:off x="822960" y="24688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898648"/>
            <a:ext cx="3154680" cy="384048"/>
          </a:xfrm>
          <a:prstGeom prst="rect">
            <a:avLst/>
          </a:prstGeom>
          <a:solidFill>
            <a:srgbClr val="FF9900"/>
          </a:solidFill>
          <a:ln w="63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3"/>
          <p:cNvSpPr/>
          <p:nvPr/>
        </p:nvSpPr>
        <p:spPr>
          <a:xfrm>
            <a:off x="822960" y="28986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328416"/>
            <a:ext cx="3154680" cy="384048"/>
          </a:xfrm>
          <a:prstGeom prst="rect">
            <a:avLst/>
          </a:prstGeom>
          <a:solidFill>
            <a:srgbClr val="FF9900"/>
          </a:solidFill>
          <a:ln w="63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5"/>
          <p:cNvSpPr/>
          <p:nvPr/>
        </p:nvSpPr>
        <p:spPr>
          <a:xfrm>
            <a:off x="822960" y="332841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758184"/>
            <a:ext cx="3154680" cy="384048"/>
          </a:xfrm>
          <a:prstGeom prst="rect">
            <a:avLst/>
          </a:prstGeom>
          <a:solidFill>
            <a:srgbClr val="FF9900"/>
          </a:solidFill>
          <a:ln w="63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7"/>
          <p:cNvSpPr/>
          <p:nvPr/>
        </p:nvSpPr>
        <p:spPr>
          <a:xfrm>
            <a:off x="822960" y="375818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87952"/>
            <a:ext cx="3154680" cy="384048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/>
          <p:nvPr/>
        </p:nvSpPr>
        <p:spPr>
          <a:xfrm>
            <a:off x="822960" y="41879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617720"/>
            <a:ext cx="3154680" cy="384048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Text 21"/>
          <p:cNvSpPr/>
          <p:nvPr/>
        </p:nvSpPr>
        <p:spPr>
          <a:xfrm>
            <a:off x="822960" y="46177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5047488"/>
            <a:ext cx="3154680" cy="384048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Text 23"/>
          <p:cNvSpPr/>
          <p:nvPr/>
        </p:nvSpPr>
        <p:spPr>
          <a:xfrm>
            <a:off x="822960" y="50474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5897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EC2, EBS, VPC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1691640"/>
            <a:ext cx="37033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8" name="Shape 26"/>
          <p:cNvSpPr/>
          <p:nvPr/>
        </p:nvSpPr>
        <p:spPr>
          <a:xfrm>
            <a:off x="4297680" y="1691640"/>
            <a:ext cx="3703320" cy="6400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7"/>
          <p:cNvSpPr/>
          <p:nvPr/>
        </p:nvSpPr>
        <p:spPr>
          <a:xfrm>
            <a:off x="4526280" y="17373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26280" y="2057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468880"/>
            <a:ext cx="3154680" cy="384048"/>
          </a:xfrm>
          <a:prstGeom prst="rect">
            <a:avLst/>
          </a:prstGeom>
          <a:solidFill>
            <a:srgbClr val="FF9900"/>
          </a:solidFill>
          <a:ln w="63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2" name="Text 30"/>
          <p:cNvSpPr/>
          <p:nvPr/>
        </p:nvSpPr>
        <p:spPr>
          <a:xfrm>
            <a:off x="4663440" y="24688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2898648"/>
            <a:ext cx="3154680" cy="384048"/>
          </a:xfrm>
          <a:prstGeom prst="rect">
            <a:avLst/>
          </a:prstGeom>
          <a:solidFill>
            <a:srgbClr val="FF9900"/>
          </a:solidFill>
          <a:ln w="63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Text 32"/>
          <p:cNvSpPr/>
          <p:nvPr/>
        </p:nvSpPr>
        <p:spPr>
          <a:xfrm>
            <a:off x="4663440" y="28986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328416"/>
            <a:ext cx="3154680" cy="384048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6" name="Text 34"/>
          <p:cNvSpPr/>
          <p:nvPr/>
        </p:nvSpPr>
        <p:spPr>
          <a:xfrm>
            <a:off x="4663440" y="332841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3758184"/>
            <a:ext cx="3154680" cy="384048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8" name="Text 36"/>
          <p:cNvSpPr/>
          <p:nvPr/>
        </p:nvSpPr>
        <p:spPr>
          <a:xfrm>
            <a:off x="4663440" y="375818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4187952"/>
            <a:ext cx="3154680" cy="384048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0" name="Text 38"/>
          <p:cNvSpPr/>
          <p:nvPr/>
        </p:nvSpPr>
        <p:spPr>
          <a:xfrm>
            <a:off x="4663440" y="41879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4617720"/>
            <a:ext cx="3154680" cy="384048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2" name="Text 40"/>
          <p:cNvSpPr/>
          <p:nvPr/>
        </p:nvSpPr>
        <p:spPr>
          <a:xfrm>
            <a:off x="4663440" y="46177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5047488"/>
            <a:ext cx="3154680" cy="384048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4" name="Text 42"/>
          <p:cNvSpPr/>
          <p:nvPr/>
        </p:nvSpPr>
        <p:spPr>
          <a:xfrm>
            <a:off x="4663440" y="50474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26280" y="5897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Beanstalk, App Runner, RDS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38160" y="1691640"/>
            <a:ext cx="37033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7" name="Shape 45"/>
          <p:cNvSpPr/>
          <p:nvPr/>
        </p:nvSpPr>
        <p:spPr>
          <a:xfrm>
            <a:off x="8138160" y="1691640"/>
            <a:ext cx="3703320" cy="6400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8" name="Text 46"/>
          <p:cNvSpPr/>
          <p:nvPr/>
        </p:nvSpPr>
        <p:spPr>
          <a:xfrm>
            <a:off x="8366760" y="17373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366760" y="2057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412480" y="2468880"/>
            <a:ext cx="3154680" cy="384048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1" name="Text 49"/>
          <p:cNvSpPr/>
          <p:nvPr/>
        </p:nvSpPr>
        <p:spPr>
          <a:xfrm>
            <a:off x="8503920" y="24688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412480" y="2898648"/>
            <a:ext cx="3154680" cy="384048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3" name="Text 51"/>
          <p:cNvSpPr/>
          <p:nvPr/>
        </p:nvSpPr>
        <p:spPr>
          <a:xfrm>
            <a:off x="8503920" y="28986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412480" y="3328416"/>
            <a:ext cx="3154680" cy="384048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5" name="Text 53"/>
          <p:cNvSpPr/>
          <p:nvPr/>
        </p:nvSpPr>
        <p:spPr>
          <a:xfrm>
            <a:off x="8503920" y="332841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412480" y="3758184"/>
            <a:ext cx="3154680" cy="384048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7" name="Text 55"/>
          <p:cNvSpPr/>
          <p:nvPr/>
        </p:nvSpPr>
        <p:spPr>
          <a:xfrm>
            <a:off x="8503920" y="375818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412480" y="4187952"/>
            <a:ext cx="3154680" cy="384048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9" name="Text 57"/>
          <p:cNvSpPr/>
          <p:nvPr/>
        </p:nvSpPr>
        <p:spPr>
          <a:xfrm>
            <a:off x="8503920" y="41879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412480" y="4617720"/>
            <a:ext cx="3154680" cy="384048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1" name="Text 59"/>
          <p:cNvSpPr/>
          <p:nvPr/>
        </p:nvSpPr>
        <p:spPr>
          <a:xfrm>
            <a:off x="8503920" y="46177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412480" y="5047488"/>
            <a:ext cx="3154680" cy="384048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3" name="Text 61"/>
          <p:cNvSpPr/>
          <p:nvPr/>
        </p:nvSpPr>
        <p:spPr>
          <a:xfrm>
            <a:off x="8503920" y="50474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366760" y="5897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Chime, WorkMail, Gmail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" y="6400800"/>
            <a:ext cx="164592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6" name="Text 64"/>
          <p:cNvSpPr/>
          <p:nvPr/>
        </p:nvSpPr>
        <p:spPr>
          <a:xfrm>
            <a:off x="685800" y="6355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194560" y="6400800"/>
            <a:ext cx="164592" cy="164592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8" name="Text 66"/>
          <p:cNvSpPr/>
          <p:nvPr/>
        </p:nvSpPr>
        <p:spPr>
          <a:xfrm>
            <a:off x="2423160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cohort focuses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13716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73152" cy="1371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777240" y="1554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IaaS, with some PaaS sprinkled in.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Because IaaS forces you to understand the building blocks. Once you understand EC2, you'll instantly understand why Elastic Beanstalk exists. Going the other way is much harder.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112471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73152" cy="31089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54480" y="3246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model: FaaS / Serverless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554480" y="3611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as a Service — the next layer of abstraction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4400" y="397764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code. The provider runs it in response to events.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 to manage. No idle capacity.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actual execution time — measured in milliseconds.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example: Lambda. We'll cover it in the Compute deep-dive session.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Reality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Regions, Availability Zones, and the buildings behind the magic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and Availability Zones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7602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0876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geographic area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5800" y="2423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 of data centers in one part of the world.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28346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us-east-1 — Northern Virginia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eu-west-1 — Ireland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af-south-1 — Cape Town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me-south-1 — Bahrain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ap-southeast-1 — Singapore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5120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latency, data-residency laws, pricing, service availability all vary by Region.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6446520" y="160020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176022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694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26948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data center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446520" y="2423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each Region. Typically 3+ AZs per Region.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629400" y="2834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separated by tens of kilometres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power, cooling, networking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high-speed private fiber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workloads span 2+ AZs always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446520" y="5120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if one data center loses power, your app keeps running from another AZ in the same Region.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 behind every cloud server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physical server, many virtual 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2344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873252" y="1627632"/>
            <a:ext cx="402336" cy="402336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172821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3317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01368" y="1463040"/>
            <a:ext cx="12344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3" name="Shape 10"/>
          <p:cNvSpPr/>
          <p:nvPr/>
        </p:nvSpPr>
        <p:spPr>
          <a:xfrm>
            <a:off x="2217420" y="1627632"/>
            <a:ext cx="402336" cy="402336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004" y="172821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01368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801368" y="23317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145536" y="1463040"/>
            <a:ext cx="12344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4"/>
          <p:cNvSpPr/>
          <p:nvPr/>
        </p:nvSpPr>
        <p:spPr>
          <a:xfrm>
            <a:off x="3561588" y="1627632"/>
            <a:ext cx="402336" cy="402336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172" y="1728216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145536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145536" y="23317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489704" y="1463040"/>
            <a:ext cx="12344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18"/>
          <p:cNvSpPr/>
          <p:nvPr/>
        </p:nvSpPr>
        <p:spPr>
          <a:xfrm>
            <a:off x="4905756" y="1627632"/>
            <a:ext cx="402336" cy="402336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1728216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489704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489704" y="23317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" y="2697480"/>
            <a:ext cx="5266944" cy="640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Text 22"/>
          <p:cNvSpPr/>
          <p:nvPr/>
        </p:nvSpPr>
        <p:spPr>
          <a:xfrm>
            <a:off x="457200" y="2697480"/>
            <a:ext cx="5266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457200" y="3429000"/>
            <a:ext cx="5266944" cy="8229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Shape 24"/>
          <p:cNvSpPr/>
          <p:nvPr/>
        </p:nvSpPr>
        <p:spPr>
          <a:xfrm>
            <a:off x="640080" y="35204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68046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71600" y="3429000"/>
            <a:ext cx="5266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SERVER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371600" y="379476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disk, NIC — the actual hardware in the data center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5943600" y="18288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server has more CPU and RAM than most workloads need. Virtualization slices one machine into many isolated "virtual machines."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943600" y="2834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VM thinks it owns a full computer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5943600" y="320040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OS kernel, file system, network stack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from other VMs on the same host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created, resized, destroyed in seconds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the cloud simply does not exist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5943600" y="5486400"/>
            <a:ext cx="5760720" cy="868680"/>
          </a:xfrm>
          <a:prstGeom prst="rect">
            <a:avLst/>
          </a:prstGeom>
          <a:solidFill>
            <a:srgbClr val="EAF2F8"/>
          </a:solidFill>
          <a:ln w="635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Text 32"/>
          <p:cNvSpPr/>
          <p:nvPr/>
        </p:nvSpPr>
        <p:spPr>
          <a:xfrm>
            <a:off x="6080760" y="5486400"/>
            <a:ext cx="548640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uses </a:t>
            </a:r>
            <a:r>
              <a:rPr lang="en-US" sz="11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</a:t>
            </a: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custom hypervisor replacing the older Xen-based one. When you launch a t3.micro, you're getting a small slice of a much bigger Nitro host.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hypervisors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5321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73152" cy="4754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 hypervisor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directly on the hardware — no host OS underneath.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834640"/>
            <a:ext cx="4892040" cy="411480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OSes (VMs)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291840"/>
            <a:ext cx="4892040" cy="411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3"/>
          <p:cNvSpPr/>
          <p:nvPr/>
        </p:nvSpPr>
        <p:spPr>
          <a:xfrm>
            <a:off x="777240" y="32918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749040"/>
            <a:ext cx="4892040" cy="4114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5"/>
          <p:cNvSpPr/>
          <p:nvPr/>
        </p:nvSpPr>
        <p:spPr>
          <a:xfrm>
            <a:off x="777240" y="37490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hardware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343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617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VMware ESXi  •  Microsoft Hyper-V  •  Xen  •  KVM  •  AWS Nitro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5074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is what cloud providers use in their data centers.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1463040"/>
            <a:ext cx="55321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2" name="Shape 20"/>
          <p:cNvSpPr/>
          <p:nvPr/>
        </p:nvSpPr>
        <p:spPr>
          <a:xfrm>
            <a:off x="6172200" y="1463040"/>
            <a:ext cx="73152" cy="47548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Text 21"/>
          <p:cNvSpPr/>
          <p:nvPr/>
        </p:nvSpPr>
        <p:spPr>
          <a:xfrm>
            <a:off x="640080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18745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hypervisor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top of a regular operating system, as an app.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2834640"/>
            <a:ext cx="4892040" cy="411480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5"/>
          <p:cNvSpPr/>
          <p:nvPr/>
        </p:nvSpPr>
        <p:spPr>
          <a:xfrm>
            <a:off x="6492240" y="2834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OSes (VMs)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3291840"/>
            <a:ext cx="4892040" cy="4114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7"/>
          <p:cNvSpPr/>
          <p:nvPr/>
        </p:nvSpPr>
        <p:spPr>
          <a:xfrm>
            <a:off x="6492240" y="32918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(app)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3749040"/>
            <a:ext cx="4892040" cy="4114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Text 29"/>
          <p:cNvSpPr/>
          <p:nvPr/>
        </p:nvSpPr>
        <p:spPr>
          <a:xfrm>
            <a:off x="6492240" y="37490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(Windows / macOS / Linux)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4206240"/>
            <a:ext cx="4892040" cy="3657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Text 31"/>
          <p:cNvSpPr/>
          <p:nvPr/>
        </p:nvSpPr>
        <p:spPr>
          <a:xfrm>
            <a:off x="6492240" y="4206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hardware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4709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4983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VirtualBox  •  VMware Workstation  •  Parallels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5440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Good for learning on your laptop.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on AWS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EC2, ECS, EKS, Fargate, Lambda — the full spectrum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• EC2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Compute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12801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914400" cy="9144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20240" y="1508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machines, on demand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20240" y="20116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2006. The original AWS service — and still the most-used. "Spin up a server" almost always means EC2.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78892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14325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016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280160" y="33832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running virtual machine. Your unit of work in EC2.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251960" y="278892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6"/>
          <p:cNvSpPr/>
          <p:nvPr/>
        </p:nvSpPr>
        <p:spPr>
          <a:xfrm>
            <a:off x="4251960" y="27889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Shape 17"/>
          <p:cNvSpPr/>
          <p:nvPr/>
        </p:nvSpPr>
        <p:spPr>
          <a:xfrm>
            <a:off x="4434840" y="3017520"/>
            <a:ext cx="502920" cy="5029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570" y="3143250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7492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5074920" y="33832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Machine Image — the template (OS + software) used to launch new instances.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046720" y="278892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6" name="Shape 21"/>
          <p:cNvSpPr/>
          <p:nvPr/>
        </p:nvSpPr>
        <p:spPr>
          <a:xfrm>
            <a:off x="8046720" y="27889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Shape 22"/>
          <p:cNvSpPr/>
          <p:nvPr/>
        </p:nvSpPr>
        <p:spPr>
          <a:xfrm>
            <a:off x="8229600" y="3017520"/>
            <a:ext cx="502920" cy="5029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3143250"/>
            <a:ext cx="251460" cy="2514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86968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8869680" y="33832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"size" of the VM. Family + generation + size: t3.micro, m5.large, c6g.xlarge.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57200" y="461772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2" name="Shape 26"/>
          <p:cNvSpPr/>
          <p:nvPr/>
        </p:nvSpPr>
        <p:spPr>
          <a:xfrm>
            <a:off x="457200" y="46177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Shape 27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10" y="4972050"/>
            <a:ext cx="251460" cy="2514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8016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pair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1280160" y="52120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Public/private SSH key. Lose the private key, lose access — treat it like a password.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251960" y="461772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8" name="Shape 31"/>
          <p:cNvSpPr/>
          <p:nvPr/>
        </p:nvSpPr>
        <p:spPr>
          <a:xfrm>
            <a:off x="4251960" y="46177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Shape 32"/>
          <p:cNvSpPr/>
          <p:nvPr/>
        </p:nvSpPr>
        <p:spPr>
          <a:xfrm>
            <a:off x="4434840" y="4846320"/>
            <a:ext cx="502920" cy="5029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0570" y="4972050"/>
            <a:ext cx="251460" cy="25146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07492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500" dirty="0"/>
          </a:p>
        </p:txBody>
      </p:sp>
      <p:sp>
        <p:nvSpPr>
          <p:cNvPr id="42" name="Text 34"/>
          <p:cNvSpPr/>
          <p:nvPr/>
        </p:nvSpPr>
        <p:spPr>
          <a:xfrm>
            <a:off x="5074920" y="52120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firewall. Controls which ports are open and to whom.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8046720" y="4617720"/>
            <a:ext cx="36576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4" name="Shape 36"/>
          <p:cNvSpPr/>
          <p:nvPr/>
        </p:nvSpPr>
        <p:spPr>
          <a:xfrm>
            <a:off x="8046720" y="4617720"/>
            <a:ext cx="73152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5" name="Shape 37"/>
          <p:cNvSpPr/>
          <p:nvPr/>
        </p:nvSpPr>
        <p:spPr>
          <a:xfrm>
            <a:off x="8229600" y="4846320"/>
            <a:ext cx="502920" cy="50292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5330" y="4972050"/>
            <a:ext cx="251460" cy="25146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886968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</a:t>
            </a:r>
            <a:endParaRPr lang="en-US" sz="1500" dirty="0"/>
          </a:p>
        </p:txBody>
      </p:sp>
      <p:sp>
        <p:nvSpPr>
          <p:cNvPr id="48" name="Text 39"/>
          <p:cNvSpPr/>
          <p:nvPr/>
        </p:nvSpPr>
        <p:spPr>
          <a:xfrm>
            <a:off x="8869680" y="52120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boot-time script. Used to install software on launch (we'll use this for Minio).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• EC2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instance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”c5.xlarge" the way an engineer reads 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6000" b="1" dirty="0">
                <a:solidFill>
                  <a:srgbClr val="4A9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6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6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xlarge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3657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73152" cy="2697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Text 10"/>
          <p:cNvSpPr/>
          <p:nvPr/>
        </p:nvSpPr>
        <p:spPr>
          <a:xfrm>
            <a:off x="68580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023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85800" y="4800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type. m = balanced; t = burstable; c = compute-optimized; r = memory-optimized; g/p = GPU.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3520440"/>
            <a:ext cx="3657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4"/>
          <p:cNvSpPr/>
          <p:nvPr/>
        </p:nvSpPr>
        <p:spPr>
          <a:xfrm>
            <a:off x="4251960" y="3520440"/>
            <a:ext cx="73152" cy="26974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5"/>
          <p:cNvSpPr/>
          <p:nvPr/>
        </p:nvSpPr>
        <p:spPr>
          <a:xfrm>
            <a:off x="448056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4023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480560" y="4800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generation. Higher = newer/faster CPUs. m5 → m6i → m7i. Newer often cheaper per unit of work.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520440"/>
            <a:ext cx="36576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Shape 19"/>
          <p:cNvSpPr/>
          <p:nvPr/>
        </p:nvSpPr>
        <p:spPr>
          <a:xfrm>
            <a:off x="8046720" y="3520440"/>
            <a:ext cx="73152" cy="2697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Text 20"/>
          <p:cNvSpPr/>
          <p:nvPr/>
        </p:nvSpPr>
        <p:spPr>
          <a:xfrm>
            <a:off x="827532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75320" y="4023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xlarge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275320" y="4800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a slice. nano → micro → small → medium → large → xlarge → 2xlarge → 4xlarge … 24xlarge.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• EC2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options — five ways to buy the same VM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hardware, different commitment, very different price.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249424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1883664" cy="502920"/>
          </a:xfrm>
          <a:prstGeom prst="rect">
            <a:avLst/>
          </a:prstGeom>
          <a:solidFill>
            <a:srgbClr val="CBD5E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Hour, no commitment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1883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unpredictable jobs. Learning.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16352" y="1691640"/>
            <a:ext cx="2249424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7"/>
          <p:cNvSpPr/>
          <p:nvPr/>
        </p:nvSpPr>
        <p:spPr>
          <a:xfrm>
            <a:off x="2816352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8"/>
          <p:cNvSpPr/>
          <p:nvPr/>
        </p:nvSpPr>
        <p:spPr>
          <a:xfrm>
            <a:off x="2999232" y="19202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999232" y="2514600"/>
            <a:ext cx="1883664" cy="502920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Text 20"/>
          <p:cNvSpPr/>
          <p:nvPr/>
        </p:nvSpPr>
        <p:spPr>
          <a:xfrm>
            <a:off x="2999232" y="251460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72%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99232" y="3017520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99232" y="33832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99232" y="36576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 or 3-year commitment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99232" y="47548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99232" y="5029200"/>
            <a:ext cx="1883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Steady, predictable production workloads.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75504" y="1691640"/>
            <a:ext cx="2249424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9" name="Shape 27"/>
          <p:cNvSpPr/>
          <p:nvPr/>
        </p:nvSpPr>
        <p:spPr>
          <a:xfrm>
            <a:off x="5175504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Text 28"/>
          <p:cNvSpPr/>
          <p:nvPr/>
        </p:nvSpPr>
        <p:spPr>
          <a:xfrm>
            <a:off x="5358384" y="19202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Plans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58384" y="2514600"/>
            <a:ext cx="1883664" cy="502920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2" name="Text 30"/>
          <p:cNvSpPr/>
          <p:nvPr/>
        </p:nvSpPr>
        <p:spPr>
          <a:xfrm>
            <a:off x="5358384" y="251460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72%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58384" y="3017520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58384" y="33832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58384" y="36576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$/hr, flexible across types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58384" y="47548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58384" y="5029200"/>
            <a:ext cx="1883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spend, mixed workload.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34656" y="1691640"/>
            <a:ext cx="2249424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9" name="Shape 37"/>
          <p:cNvSpPr/>
          <p:nvPr/>
        </p:nvSpPr>
        <p:spPr>
          <a:xfrm>
            <a:off x="7534656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0" name="Text 38"/>
          <p:cNvSpPr/>
          <p:nvPr/>
        </p:nvSpPr>
        <p:spPr>
          <a:xfrm>
            <a:off x="7717536" y="19202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717536" y="2514600"/>
            <a:ext cx="1883664" cy="502920"/>
          </a:xfrm>
          <a:prstGeom prst="rect">
            <a:avLst/>
          </a:prstGeom>
          <a:solidFill>
            <a:srgbClr val="FF9900"/>
          </a:solidFill>
          <a:ln w="63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2" name="Text 40"/>
          <p:cNvSpPr/>
          <p:nvPr/>
        </p:nvSpPr>
        <p:spPr>
          <a:xfrm>
            <a:off x="7717536" y="251460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90%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17536" y="3017520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17536" y="33832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17536" y="36576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unused capacity — can be reclaimed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17536" y="47548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717536" y="5029200"/>
            <a:ext cx="1883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batch, CI, ML training.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893808" y="1691640"/>
            <a:ext cx="2249424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9" name="Shape 47"/>
          <p:cNvSpPr/>
          <p:nvPr/>
        </p:nvSpPr>
        <p:spPr>
          <a:xfrm>
            <a:off x="9893808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0" name="Text 48"/>
          <p:cNvSpPr/>
          <p:nvPr/>
        </p:nvSpPr>
        <p:spPr>
          <a:xfrm>
            <a:off x="10076688" y="19202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Host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076688" y="2514600"/>
            <a:ext cx="1883664" cy="502920"/>
          </a:xfrm>
          <a:prstGeom prst="rect">
            <a:avLst/>
          </a:prstGeom>
          <a:solidFill>
            <a:srgbClr val="EAF2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2" name="Text 50"/>
          <p:cNvSpPr/>
          <p:nvPr/>
        </p:nvSpPr>
        <p:spPr>
          <a:xfrm>
            <a:off x="10076688" y="251460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0076688" y="3017520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076688" y="33832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076688" y="36576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an entire physical server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076688" y="47548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0076688" y="5029200"/>
            <a:ext cx="1883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License-bound software, compliance.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 vs Containers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important mental models in modern infrastructure.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321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44805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40080" cy="64008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03454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50876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house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5800" y="26517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foundation, own plumbing, own electrical wiring. Self-contained — and heavy.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324612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guest OS per VM (gigabytes)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in seconds to minutes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hardware-level isolation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VMs per host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OS-bound — Windows VMs need Windows host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long-running, OS-specific apps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1691640"/>
            <a:ext cx="55321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Shape 14"/>
          <p:cNvSpPr/>
          <p:nvPr/>
        </p:nvSpPr>
        <p:spPr>
          <a:xfrm>
            <a:off x="6172200" y="1691640"/>
            <a:ext cx="73152" cy="44805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Shape 15"/>
          <p:cNvSpPr/>
          <p:nvPr/>
        </p:nvSpPr>
        <p:spPr>
          <a:xfrm>
            <a:off x="6400800" y="187452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03454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22376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apartment in a building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400800" y="26517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furniture and decor. Shares the building's plumbing and structure. Light, portable, fast.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92240" y="324612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host kernel (megabytes)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in milliseconds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isolation — weaker than VM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to thousands per host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— runs anywhere Docker runs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microservices, CI/CD, scaling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AWS compute spectrum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"manage every detail" to "just upload code" — pick your trade-off.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788920" cy="36576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1440180" y="20574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26314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017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008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38404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the OS, the runtime, the app. Maximum control. Maximum effort.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355848" y="1691640"/>
            <a:ext cx="2788920" cy="36576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 dirty="0"/>
          </a:p>
        </p:txBody>
      </p:sp>
      <p:sp>
        <p:nvSpPr>
          <p:cNvPr id="15" name="Shape 12"/>
          <p:cNvSpPr/>
          <p:nvPr/>
        </p:nvSpPr>
        <p:spPr>
          <a:xfrm>
            <a:off x="4338828" y="20574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26314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38728" y="3017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/ EKS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3538728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584448" y="38404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running on EC2 instances you (or AWS) manage.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254496" y="1691640"/>
            <a:ext cx="2788920" cy="3657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Shape 17"/>
          <p:cNvSpPr/>
          <p:nvPr/>
        </p:nvSpPr>
        <p:spPr>
          <a:xfrm>
            <a:off x="7237476" y="20574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226314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37376" y="3017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6437376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containers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83096" y="38404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E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 no servers. AWS runs the underlying infrastructure for you.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9153144" y="1691640"/>
            <a:ext cx="2788920" cy="3657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2"/>
          <p:cNvSpPr/>
          <p:nvPr/>
        </p:nvSpPr>
        <p:spPr>
          <a:xfrm>
            <a:off x="10136124" y="20574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1864" y="226314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36024" y="3017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9336024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381744" y="38404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E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code. AWS runs it on every event. Maximum abstraction.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Text 27"/>
          <p:cNvSpPr/>
          <p:nvPr/>
        </p:nvSpPr>
        <p:spPr>
          <a:xfrm>
            <a:off x="640080" y="5532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CONTROL</a:t>
            </a:r>
            <a:endParaRPr lang="en-US" sz="12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5669280"/>
            <a:ext cx="100584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863840" y="55321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3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ABSTRACTION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• CONTAINERS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vs EKS — choosing an orchestrator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5321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48463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7145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600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— Elastic Container Service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0876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 container orchestrator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launch types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27889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launch type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 manage the EC2 fleet; ECS schedules containers onto it. Cheaper, more work.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85800" y="35661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launch type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serverless. AWS runs the underlying infrastructure. Easier, more expensive.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8580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4663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operate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than EKS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AWS-only — no portability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72200" y="1371600"/>
            <a:ext cx="553212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6"/>
          <p:cNvSpPr/>
          <p:nvPr/>
        </p:nvSpPr>
        <p:spPr>
          <a:xfrm>
            <a:off x="6172200" y="1371600"/>
            <a:ext cx="73152" cy="48463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Shape 17"/>
          <p:cNvSpPr/>
          <p:nvPr/>
        </p:nvSpPr>
        <p:spPr>
          <a:xfrm>
            <a:off x="6400800" y="1554480"/>
            <a:ext cx="640080" cy="64008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171450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2376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— Elastic Kubernetes Service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223760" y="2011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Kubernetes on AWS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0080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400800" y="2788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runs the Kubernetes control plane for you. You bring the worker nodes (EC2 or Fargate). You get the full Kubernetes ecosystem on top.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40080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583680" y="43891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— huge ecosystem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across clouds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operating cost &amp; complexity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on AWS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file, and object — three flavors, three jobs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cloud storage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choice depends on how the data is accessed — not how much you have.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033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703320" cy="1188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1988820" y="1874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203454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2514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(EBS)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2971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raw hard drive plugged into one server"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388620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ONE EC2 instance at a 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at block level (like a physical disk)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IOPS, very low latency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databases, OS disk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297680" y="1691640"/>
            <a:ext cx="37033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4297680" y="1691640"/>
            <a:ext cx="3703320" cy="11887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Shape 14"/>
          <p:cNvSpPr/>
          <p:nvPr/>
        </p:nvSpPr>
        <p:spPr>
          <a:xfrm>
            <a:off x="5829300" y="1874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0345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480560" y="2514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(EFS)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526280" y="2971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network drive in an office"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526280" y="388620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by MANY EC2 instances at once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file system (folders &amp; files)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storage automatically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CMS, dev environments, shared content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138160" y="1691640"/>
            <a:ext cx="37033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19"/>
          <p:cNvSpPr/>
          <p:nvPr/>
        </p:nvSpPr>
        <p:spPr>
          <a:xfrm>
            <a:off x="8138160" y="1691640"/>
            <a:ext cx="3703320" cy="1188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Shape 20"/>
          <p:cNvSpPr/>
          <p:nvPr/>
        </p:nvSpPr>
        <p:spPr>
          <a:xfrm>
            <a:off x="9669780" y="1874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203454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21040" y="2514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(S3)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8366760" y="2971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giant warehouse of labeled boxes"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8366760" y="388620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via HTTP API from anywhere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namespace — every object has a unique key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unlimited scale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Backups, static sites, logs, data lakes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• EBS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Block Store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7602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1554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block storage for EC2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83080" y="1965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 raw disk to your instance. Partition, format, mount — use it like a physical hard drive. Lives in ONE AZ.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types you'll see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320040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457200" y="3200400"/>
            <a:ext cx="73152" cy="2011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3"/>
          <p:cNvSpPr/>
          <p:nvPr/>
        </p:nvSpPr>
        <p:spPr>
          <a:xfrm>
            <a:off x="64008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gp3 / gp2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008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SSD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4069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 Balanced IOPS, cost-effective. Use this unless you have a reason not to.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10128" y="320040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7"/>
          <p:cNvSpPr/>
          <p:nvPr/>
        </p:nvSpPr>
        <p:spPr>
          <a:xfrm>
            <a:off x="3310128" y="3200400"/>
            <a:ext cx="73152" cy="2011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8"/>
          <p:cNvSpPr/>
          <p:nvPr/>
        </p:nvSpPr>
        <p:spPr>
          <a:xfrm>
            <a:off x="3493008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io2 / io1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493008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SSD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493008" y="4069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IOPS. For demanding databases, mission-critical workloads.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63056" y="320040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5" name="Shape 22"/>
          <p:cNvSpPr/>
          <p:nvPr/>
        </p:nvSpPr>
        <p:spPr>
          <a:xfrm>
            <a:off x="6163056" y="3200400"/>
            <a:ext cx="73152" cy="2011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Text 23"/>
          <p:cNvSpPr/>
          <p:nvPr/>
        </p:nvSpPr>
        <p:spPr>
          <a:xfrm>
            <a:off x="6345936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st1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345936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Throughput-optimized HDD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345936" y="4069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sequential workloads — log processing, data warehousing.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015984" y="320040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0" name="Shape 27"/>
          <p:cNvSpPr/>
          <p:nvPr/>
        </p:nvSpPr>
        <p:spPr>
          <a:xfrm>
            <a:off x="9015984" y="3200400"/>
            <a:ext cx="73152" cy="2011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Text 28"/>
          <p:cNvSpPr/>
          <p:nvPr/>
        </p:nvSpPr>
        <p:spPr>
          <a:xfrm>
            <a:off x="9198864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sc1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198864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HDD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198864" y="4069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Cheapest. Infrequent access, archival on a block device.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5440680"/>
            <a:ext cx="11247120" cy="914400"/>
          </a:xfrm>
          <a:prstGeom prst="rect">
            <a:avLst/>
          </a:prstGeom>
          <a:solidFill>
            <a:srgbClr val="EAF2F8"/>
          </a:solidFill>
          <a:ln w="635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5" name="Shape 32"/>
          <p:cNvSpPr/>
          <p:nvPr/>
        </p:nvSpPr>
        <p:spPr>
          <a:xfrm>
            <a:off x="685800" y="55778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5737860"/>
            <a:ext cx="320040" cy="32004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463040" y="5440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tip: </a:t>
            </a:r>
            <a:r>
              <a:rPr lang="en-US" sz="12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lives in a single AZ. For disaster recovery, take </a:t>
            </a: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r>
              <a:rPr lang="en-US" sz="12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(stored in S3) — you can re-create the volume in another AZ if the original AZ fails.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• EFS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File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7602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1554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shared NFS — across AZs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83080" y="1965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EC2 instances — even in different AZs in the same Region — mount the same file system simultaneously.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788920"/>
            <a:ext cx="55321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73152" cy="35661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2"/>
          <p:cNvSpPr/>
          <p:nvPr/>
        </p:nvSpPr>
        <p:spPr>
          <a:xfrm>
            <a:off x="68580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8680" y="33832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many EC2 instances simultaneously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semantics — folders, files, permissions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Petabyte scale — grows automatically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GB used (no pre-provisioning)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EBS, faster than S3 for random IO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2788920"/>
            <a:ext cx="55321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5"/>
          <p:cNvSpPr/>
          <p:nvPr/>
        </p:nvSpPr>
        <p:spPr>
          <a:xfrm>
            <a:off x="6172200" y="2788920"/>
            <a:ext cx="73152" cy="356616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6"/>
          <p:cNvSpPr/>
          <p:nvPr/>
        </p:nvSpPr>
        <p:spPr>
          <a:xfrm>
            <a:off x="640080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use cases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583680" y="33832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farm — many servers serving user uploads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where every app server must see same content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development environments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with shared input sets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persistent volumes (ECS/EKS)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• S3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Storage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7602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1554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AWS service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83080" y="1965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storage. Effectively unlimited scale. Designed for 99.999999999% (11 nines) durability.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788920"/>
            <a:ext cx="55321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73152" cy="35661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2"/>
          <p:cNvSpPr/>
          <p:nvPr/>
        </p:nvSpPr>
        <p:spPr>
          <a:xfrm>
            <a:off x="68580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organized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868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top-level container. Globally unique name.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file. Up to 5 TB each.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" y="4114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unique identifier within the bucket. Looks like a path but it's flat.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68680" y="4709160"/>
            <a:ext cx="4937760" cy="14630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7"/>
          <p:cNvSpPr/>
          <p:nvPr/>
        </p:nvSpPr>
        <p:spPr>
          <a:xfrm>
            <a:off x="960120" y="4800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object URL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50749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https://my-bucket.s3.amazonaws.com/photos/cohort10/group.jpg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72200" y="2788920"/>
            <a:ext cx="55321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20"/>
          <p:cNvSpPr/>
          <p:nvPr/>
        </p:nvSpPr>
        <p:spPr>
          <a:xfrm>
            <a:off x="6172200" y="2788920"/>
            <a:ext cx="73152" cy="356616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1"/>
          <p:cNvSpPr/>
          <p:nvPr/>
        </p:nvSpPr>
        <p:spPr>
          <a:xfrm>
            <a:off x="640080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just HTTP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0080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verbs do most of the work: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0" y="3657600"/>
            <a:ext cx="13716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4"/>
          <p:cNvSpPr/>
          <p:nvPr/>
        </p:nvSpPr>
        <p:spPr>
          <a:xfrm>
            <a:off x="640080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909560" y="3657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object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0" y="4297680"/>
            <a:ext cx="13716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Text 27"/>
          <p:cNvSpPr/>
          <p:nvPr/>
        </p:nvSpPr>
        <p:spPr>
          <a:xfrm>
            <a:off x="640080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90956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 object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400800" y="4937760"/>
            <a:ext cx="13716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Text 30"/>
          <p:cNvSpPr/>
          <p:nvPr/>
        </p:nvSpPr>
        <p:spPr>
          <a:xfrm>
            <a:off x="6400800" y="4937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909560" y="4937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object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400800" y="5577840"/>
            <a:ext cx="1371600" cy="5029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6" name="Text 33"/>
          <p:cNvSpPr/>
          <p:nvPr/>
        </p:nvSpPr>
        <p:spPr>
          <a:xfrm>
            <a:off x="6400800" y="5577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909560" y="5577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objects in a bucket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• S3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classes — cost optimization built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object needs instant retrieval. Match the class to the access pattern.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53035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69164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16916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0" y="16916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cost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21992"/>
            <a:ext cx="11247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2"/>
          <p:cNvSpPr/>
          <p:nvPr/>
        </p:nvSpPr>
        <p:spPr>
          <a:xfrm>
            <a:off x="640080" y="222199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22199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accessed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22219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0" y="222199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752344"/>
            <a:ext cx="1124712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7"/>
          <p:cNvSpPr/>
          <p:nvPr/>
        </p:nvSpPr>
        <p:spPr>
          <a:xfrm>
            <a:off x="640080" y="275234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Intelligent-Tier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2752344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access patterns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275234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0" y="275234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82696"/>
            <a:ext cx="11247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2"/>
          <p:cNvSpPr/>
          <p:nvPr/>
        </p:nvSpPr>
        <p:spPr>
          <a:xfrm>
            <a:off x="640080" y="328269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3282696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Infrequent, quick retrieval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5280" y="328269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(retrieval fee)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41280" y="328269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813048"/>
            <a:ext cx="1124712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sp>
        <p:nvSpPr>
          <p:cNvPr id="29" name="Text 27"/>
          <p:cNvSpPr/>
          <p:nvPr/>
        </p:nvSpPr>
        <p:spPr>
          <a:xfrm>
            <a:off x="640080" y="381304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Instant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381304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archives, quarterly access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55280" y="381304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41280" y="381304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343400"/>
            <a:ext cx="11247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Text 32"/>
          <p:cNvSpPr/>
          <p:nvPr/>
        </p:nvSpPr>
        <p:spPr>
          <a:xfrm>
            <a:off x="640080" y="434340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Flexible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434340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backups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55280" y="43434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hours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41280" y="43434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873752"/>
            <a:ext cx="1124712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sp>
        <p:nvSpPr>
          <p:cNvPr id="39" name="Text 37"/>
          <p:cNvSpPr/>
          <p:nvPr/>
        </p:nvSpPr>
        <p:spPr>
          <a:xfrm>
            <a:off x="640080" y="48737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Deep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66160" y="487375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7+ years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955280" y="487375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(up to 12)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241280" y="487375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¢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EAF2F8"/>
          </a:solidFill>
          <a:ln w="635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4" name="Shape 42"/>
          <p:cNvSpPr/>
          <p:nvPr/>
        </p:nvSpPr>
        <p:spPr>
          <a:xfrm>
            <a:off x="640080" y="573328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870448"/>
            <a:ext cx="274320" cy="27432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371600" y="56235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policies: </a:t>
            </a: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S3 "after 30 days move to IA, after 180 days to Glacier, after 7 years delete." One of AWS's most underused cost-saving levers.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and why you'd self-host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object storage is its own category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file systems organize data in a tree of folders and break down at huge scale — directory metadata becomes a bottleneck. Object storage uses a flat namespace with HTTP access. The result: a design that scales horizontally to exabytes and is ideal for the web — images, uploads, static sites, backups, data-lake inputs.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1247120" cy="3474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73152" cy="3474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ext 11"/>
          <p:cNvSpPr/>
          <p:nvPr/>
        </p:nvSpPr>
        <p:spPr>
          <a:xfrm>
            <a:off x="68580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2918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S3-compatible object storage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365760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the exact same API as S3. Anything that talks to S3 — AWS CLI, SDKs, GitLab, Veeam, MLflow — talks to Minio with just a different endpoint URL.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2194560" cy="1783080"/>
          </a:xfrm>
          <a:prstGeom prst="rect">
            <a:avLst/>
          </a:prstGeom>
          <a:solidFill>
            <a:srgbClr val="1A4F7A"/>
          </a:solidFill>
          <a:ln w="63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5"/>
          <p:cNvSpPr/>
          <p:nvPr/>
        </p:nvSpPr>
        <p:spPr>
          <a:xfrm>
            <a:off x="685800" y="4572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51206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on hardware you control, in a country you choose.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34640" y="4434840"/>
            <a:ext cx="2194560" cy="1783080"/>
          </a:xfrm>
          <a:prstGeom prst="rect">
            <a:avLst/>
          </a:prstGeom>
          <a:solidFill>
            <a:srgbClr val="1A4F7A"/>
          </a:solidFill>
          <a:ln w="63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8"/>
          <p:cNvSpPr/>
          <p:nvPr/>
        </p:nvSpPr>
        <p:spPr>
          <a:xfrm>
            <a:off x="2971800" y="4572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predictability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71800" y="51206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scale, self-hosted storage can be cheaper than pay-per-GB.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20640" y="4434840"/>
            <a:ext cx="2194560" cy="1783080"/>
          </a:xfrm>
          <a:prstGeom prst="rect">
            <a:avLst/>
          </a:prstGeom>
          <a:solidFill>
            <a:srgbClr val="1A4F7A"/>
          </a:solidFill>
          <a:ln w="63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Text 21"/>
          <p:cNvSpPr/>
          <p:nvPr/>
        </p:nvSpPr>
        <p:spPr>
          <a:xfrm>
            <a:off x="5257800" y="4572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air-gapped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51206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Factories, ships, secure sites with no cloud connectivity.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06640" y="4434840"/>
            <a:ext cx="2194560" cy="1783080"/>
          </a:xfrm>
          <a:prstGeom prst="rect">
            <a:avLst/>
          </a:prstGeom>
          <a:solidFill>
            <a:srgbClr val="1A4F7A"/>
          </a:solidFill>
          <a:ln w="63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Text 24"/>
          <p:cNvSpPr/>
          <p:nvPr/>
        </p:nvSpPr>
        <p:spPr>
          <a:xfrm>
            <a:off x="7543800" y="4572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43800" y="51206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 S3 on your laptop without spending a cent.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92640" y="4434840"/>
            <a:ext cx="2194560" cy="1783080"/>
          </a:xfrm>
          <a:prstGeom prst="rect">
            <a:avLst/>
          </a:prstGeom>
          <a:solidFill>
            <a:srgbClr val="1A4F7A"/>
          </a:solidFill>
          <a:ln w="63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7"/>
          <p:cNvSpPr/>
          <p:nvPr/>
        </p:nvSpPr>
        <p:spPr>
          <a:xfrm>
            <a:off x="9829800" y="4572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29800" y="51206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in your data center and on AWS — same app code.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Responsibility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is split between AWS and you. Knowing the split prevents the most expensive mistakes.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532120" cy="6400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98882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1783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Security OF the cloud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5800" y="256032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security of data centers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host 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(Nitro)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infrastructure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software (RDS engine, S3 layer)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availability &amp; durability SLAs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6172200" y="1783080"/>
            <a:ext cx="5532120" cy="6400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6355080" y="18745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198882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03720" y="1783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Security IN the cloud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400800" y="256032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patches on your EC2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 and dependencies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users, roles, and policies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and firewall rules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encryption, classification,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of your data and configurations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awareness — don't get burned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"Bill shock" is the #1 thing that scares beginners off the cloud. Here's what bites.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321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4572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cost traps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7240" y="26060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left running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Even a small instance is $5–10/mo. Big ones for a week — real money.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7240" y="33192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EBS volumes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Terminate an EC2; the EBS volume may survive. You keep paying for it.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77240" y="403250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Elastic IPs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AWS charges for unattached IPs to discourage hoarding. Release them.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77240" y="474573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Gateways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Useful, but ~$30/mo + per-GB. Don't leave one up for a tutorial.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77240" y="54589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out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Pulling data OUT to the internet is metered. Beginners forget this exists.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72200" y="1691640"/>
            <a:ext cx="55321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6"/>
          <p:cNvSpPr/>
          <p:nvPr/>
        </p:nvSpPr>
        <p:spPr>
          <a:xfrm>
            <a:off x="6172200" y="1691640"/>
            <a:ext cx="73152" cy="4572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Shape 17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01168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3232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to build now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492240" y="260604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budget alert (even $5) BEFORE anything else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AWS Free Tier when learning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or terminate everything at end of each session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everything with project / owner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Cost Explorer every Friday afternoon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doubt: stop the resource, not snooze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76022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is an operating model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3444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characteristics. CapEx → OpEx. Scalability vs elasticity.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9768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429768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176022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7492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 models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7492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IaaS, PaaS, SaaS — different lines on the "who manages what" stack.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3816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6"/>
          <p:cNvSpPr/>
          <p:nvPr/>
        </p:nvSpPr>
        <p:spPr>
          <a:xfrm>
            <a:off x="813816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Shape 17"/>
          <p:cNvSpPr/>
          <p:nvPr/>
        </p:nvSpPr>
        <p:spPr>
          <a:xfrm>
            <a:off x="8321040" y="16459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340" y="176022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1540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&amp; AZs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91540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is physical. Span at least two AZs for production.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5720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6" name="Shape 21"/>
          <p:cNvSpPr/>
          <p:nvPr/>
        </p:nvSpPr>
        <p:spPr>
          <a:xfrm>
            <a:off x="45720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Shape 22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08610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3444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23444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Hypervisors carve one physical server into many isolated VMs.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29768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2" name="Shape 26"/>
          <p:cNvSpPr/>
          <p:nvPr/>
        </p:nvSpPr>
        <p:spPr>
          <a:xfrm>
            <a:off x="429768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Shape 27"/>
          <p:cNvSpPr/>
          <p:nvPr/>
        </p:nvSpPr>
        <p:spPr>
          <a:xfrm>
            <a:off x="4480560" y="297180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860" y="3086100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7492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on AWS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507492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→ ECS/EKS → Fargate → Lambda. From most control to most managed.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813816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8" name="Shape 31"/>
          <p:cNvSpPr/>
          <p:nvPr/>
        </p:nvSpPr>
        <p:spPr>
          <a:xfrm>
            <a:off x="813816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Shape 32"/>
          <p:cNvSpPr/>
          <p:nvPr/>
        </p:nvSpPr>
        <p:spPr>
          <a:xfrm>
            <a:off x="8321040" y="297180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5340" y="3086100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91540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vs Containers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891540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vs. apartment. Heavy &amp; isolated vs. light &amp; portable.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457200" y="406908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4" name="Shape 36"/>
          <p:cNvSpPr/>
          <p:nvPr/>
        </p:nvSpPr>
        <p:spPr>
          <a:xfrm>
            <a:off x="457200" y="406908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5" name="Shape 37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" y="4411980"/>
            <a:ext cx="228600" cy="22860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234440" y="4233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storage types</a:t>
            </a:r>
            <a:endParaRPr lang="en-US" sz="1300" dirty="0"/>
          </a:p>
        </p:txBody>
      </p:sp>
      <p:sp>
        <p:nvSpPr>
          <p:cNvPr id="48" name="Text 39"/>
          <p:cNvSpPr/>
          <p:nvPr/>
        </p:nvSpPr>
        <p:spPr>
          <a:xfrm>
            <a:off x="1234440" y="452628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(EBS), File (EFS), Object (S3). Match access pattern to type.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4297680" y="406908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50" name="Shape 41"/>
          <p:cNvSpPr/>
          <p:nvPr/>
        </p:nvSpPr>
        <p:spPr>
          <a:xfrm>
            <a:off x="4297680" y="406908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1" name="Shape 42"/>
          <p:cNvSpPr/>
          <p:nvPr/>
        </p:nvSpPr>
        <p:spPr>
          <a:xfrm>
            <a:off x="4480560" y="429768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4860" y="4411980"/>
            <a:ext cx="228600" cy="22860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074920" y="4233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&amp; Cost</a:t>
            </a:r>
            <a:endParaRPr lang="en-US" sz="1300" dirty="0"/>
          </a:p>
        </p:txBody>
      </p:sp>
      <p:sp>
        <p:nvSpPr>
          <p:cNvPr id="54" name="Text 44"/>
          <p:cNvSpPr/>
          <p:nvPr/>
        </p:nvSpPr>
        <p:spPr>
          <a:xfrm>
            <a:off x="5074920" y="452628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secures OF the cloud. You secure IN the cloud. And watch the bill.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Minio on an EC2 instance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all together: VMs, security groups, user data, object storage, and the S3 API — without the S3 service.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241280" y="777240"/>
            <a:ext cx="1280160" cy="12801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09728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6"/>
          <p:cNvSpPr/>
          <p:nvPr/>
        </p:nvSpPr>
        <p:spPr>
          <a:xfrm>
            <a:off x="107899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7"/>
          <p:cNvSpPr/>
          <p:nvPr/>
        </p:nvSpPr>
        <p:spPr>
          <a:xfrm>
            <a:off x="107899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EC2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AMI on t3.micro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public subnet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33172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295351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2"/>
          <p:cNvSpPr/>
          <p:nvPr/>
        </p:nvSpPr>
        <p:spPr>
          <a:xfrm>
            <a:off x="295351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4231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42316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SSH (22) 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(9000, 9001)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0624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6"/>
          <p:cNvSpPr/>
          <p:nvPr/>
        </p:nvSpPr>
        <p:spPr>
          <a:xfrm>
            <a:off x="482803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7"/>
          <p:cNvSpPr/>
          <p:nvPr/>
        </p:nvSpPr>
        <p:spPr>
          <a:xfrm>
            <a:off x="482803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29768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script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29768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Auto-install Minio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boot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8076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4" name="Shape 21"/>
          <p:cNvSpPr/>
          <p:nvPr/>
        </p:nvSpPr>
        <p:spPr>
          <a:xfrm>
            <a:off x="670255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Text 22"/>
          <p:cNvSpPr/>
          <p:nvPr/>
        </p:nvSpPr>
        <p:spPr>
          <a:xfrm>
            <a:off x="670255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17220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verify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17220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in; check Minio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is running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95528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9" name="Shape 26"/>
          <p:cNvSpPr/>
          <p:nvPr/>
        </p:nvSpPr>
        <p:spPr>
          <a:xfrm>
            <a:off x="857707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Text 27"/>
          <p:cNvSpPr/>
          <p:nvPr/>
        </p:nvSpPr>
        <p:spPr>
          <a:xfrm>
            <a:off x="857707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804672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Console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04672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to :9001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bucket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82980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4" name="Shape 31"/>
          <p:cNvSpPr/>
          <p:nvPr/>
        </p:nvSpPr>
        <p:spPr>
          <a:xfrm>
            <a:off x="1045159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5" name="Text 32"/>
          <p:cNvSpPr/>
          <p:nvPr/>
        </p:nvSpPr>
        <p:spPr>
          <a:xfrm>
            <a:off x="1045159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992124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AWS CLI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92124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CLI at Minio,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object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7200" y="4709160"/>
            <a:ext cx="11247120" cy="160020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Text 36"/>
          <p:cNvSpPr/>
          <p:nvPr/>
        </p:nvSpPr>
        <p:spPr>
          <a:xfrm>
            <a:off x="685800" y="4800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 BY DOING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8580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from today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85800" y="5440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storage, networking, security groups, user data — all touched in one workflow.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43484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API in action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4434840" y="5440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why the AWS CLI works against a non-AWS endpoint. That's portability.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18388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mindset on day one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8183880" y="5440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protocol. Different operator. The line between cloud and on-prem is yours to draw.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terminal. Sign in to the AWS console. Let's build.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058400" y="45720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274320" y="5029200"/>
            <a:ext cx="1280160" cy="12801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2286000"/>
            <a:ext cx="137160" cy="2377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1"/>
          <p:cNvSpPr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22960" y="2651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7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everything that broke during setup — environment troubleshooting first. Then we build.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5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1: Compute &amp; Storage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CB03698-7016-9E4C-89EC-7F70E3FEB77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f7c5f68-1eb7-4de4-b187-872d4003a84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3950</Words>
  <Application>Microsoft Macintosh PowerPoint</Application>
  <PresentationFormat>Widescreen</PresentationFormat>
  <Paragraphs>634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 &amp; Storage — Session 1</dc:title>
  <dc:subject>PptxGenJS Presentation</dc:subject>
  <dc:creator>KamiLimu Cloud Track</dc:creator>
  <cp:lastModifiedBy>Mark Kibara</cp:lastModifiedBy>
  <cp:revision>2</cp:revision>
  <dcterms:created xsi:type="dcterms:W3CDTF">2026-05-14T06:43:42Z</dcterms:created>
  <dcterms:modified xsi:type="dcterms:W3CDTF">2026-05-14T16:52:07Z</dcterms:modified>
</cp:coreProperties>
</file>