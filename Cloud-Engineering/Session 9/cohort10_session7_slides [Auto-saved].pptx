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8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0058400" y="365760"/>
            <a:ext cx="1554480" cy="15544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182880" y="5120640"/>
            <a:ext cx="1097280" cy="1097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10972800" y="530352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5400" dirty="0"/>
          </a:p>
        </p:txBody>
      </p:sp>
      <p:sp>
        <p:nvSpPr>
          <p:cNvPr id="8" name="Text 3"/>
          <p:cNvSpPr/>
          <p:nvPr/>
        </p:nvSpPr>
        <p:spPr>
          <a:xfrm>
            <a:off x="82296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as an infrastructure engineer — services, foundation models, and the patterns that actually ship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6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DL vs GenAI. The ML lifecycle from data to production.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448056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services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map — pre-built APIs, SageMaker, and Bedrock.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836676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354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costs, MLOps, model drift, and responsible AI.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and the workflow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ML, DL, GenAI, LLMs — decoding the buzzwords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terms are nested — not synonyms. Each one is a subset of the previous. Getting this straight makes every AI conversation clearer.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9436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303520" cy="3794760"/>
          </a:xfrm>
          <a:prstGeom prst="rect">
            <a:avLst/>
          </a:prstGeom>
          <a:solidFill>
            <a:srgbClr val="4A90C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2468880"/>
            <a:ext cx="4572000" cy="306324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11430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2834640"/>
            <a:ext cx="3840480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150876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3200400"/>
            <a:ext cx="3108960" cy="1600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18745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3566160"/>
            <a:ext cx="2377440" cy="868680"/>
          </a:xfrm>
          <a:prstGeom prst="rect">
            <a:avLst/>
          </a:prstGeom>
          <a:solidFill>
            <a:srgbClr val="C753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22402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83080"/>
            <a:ext cx="5029200" cy="4434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667512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69494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Nested, not equal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2697480"/>
            <a:ext cx="201168" cy="2011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/>
          <p:nvPr/>
        </p:nvSpPr>
        <p:spPr>
          <a:xfrm>
            <a:off x="73152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2852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that appears "intelligent" — rule-based, learned, or otherwise.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95160" y="3410712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4"/>
          <p:cNvSpPr/>
          <p:nvPr/>
        </p:nvSpPr>
        <p:spPr>
          <a:xfrm>
            <a:off x="731520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35661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patterns from data instead of being explicitly programmed.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4123944"/>
            <a:ext cx="201168" cy="20116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7315200" y="3986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42793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neural networks with many layers. Powers modern vision and language models.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95160" y="4837176"/>
            <a:ext cx="201168" cy="20116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30"/>
          <p:cNvSpPr/>
          <p:nvPr/>
        </p:nvSpPr>
        <p:spPr>
          <a:xfrm>
            <a:off x="7315200" y="47000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499262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 new content — text, images, code, audio, video.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95160" y="5550408"/>
            <a:ext cx="201168" cy="201168"/>
          </a:xfrm>
          <a:prstGeom prst="ellipse">
            <a:avLst/>
          </a:prstGeom>
          <a:solidFill>
            <a:srgbClr val="C75300"/>
          </a:solidFill>
          <a:ln w="12700">
            <a:solidFill>
              <a:srgbClr val="C753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33"/>
          <p:cNvSpPr/>
          <p:nvPr/>
        </p:nvSpPr>
        <p:spPr>
          <a:xfrm>
            <a:off x="7315200" y="5413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57058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Text-generating GenAI trained on internet-scale corpora. Claude, GPT, Llama, Gemini.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lifecycle — data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system, from a spam classifier to a foundation model, moves through these six stages. Understanding the cycle matters more than any single tool.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874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028700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219456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74520" y="1874520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0"/>
          <p:cNvSpPr/>
          <p:nvPr/>
        </p:nvSpPr>
        <p:spPr>
          <a:xfrm>
            <a:off x="1874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" y="3429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hard, boring, most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step.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395728" y="1737360"/>
            <a:ext cx="1874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2395728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2967228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108" y="2194560"/>
            <a:ext cx="365760" cy="3657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813048" y="1874520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7"/>
          <p:cNvSpPr/>
          <p:nvPr/>
        </p:nvSpPr>
        <p:spPr>
          <a:xfrm>
            <a:off x="38130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487168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2532888" y="3429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label, split.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ML 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here.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334256" y="1737360"/>
            <a:ext cx="1874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5" name="Shape 21"/>
          <p:cNvSpPr/>
          <p:nvPr/>
        </p:nvSpPr>
        <p:spPr>
          <a:xfrm>
            <a:off x="4334256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Shape 22"/>
          <p:cNvSpPr/>
          <p:nvPr/>
        </p:nvSpPr>
        <p:spPr>
          <a:xfrm>
            <a:off x="4905756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636" y="2194560"/>
            <a:ext cx="365760" cy="36576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751576" y="1874520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4"/>
          <p:cNvSpPr/>
          <p:nvPr/>
        </p:nvSpPr>
        <p:spPr>
          <a:xfrm>
            <a:off x="575157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42569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4471416" y="3429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 through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algorithm. Produces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272784" y="1737360"/>
            <a:ext cx="1874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28"/>
          <p:cNvSpPr/>
          <p:nvPr/>
        </p:nvSpPr>
        <p:spPr>
          <a:xfrm>
            <a:off x="6272784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Shape 29"/>
          <p:cNvSpPr/>
          <p:nvPr/>
        </p:nvSpPr>
        <p:spPr>
          <a:xfrm>
            <a:off x="6844284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164" y="2194560"/>
            <a:ext cx="365760" cy="36576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690104" y="1874520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7" name="Text 31"/>
          <p:cNvSpPr/>
          <p:nvPr/>
        </p:nvSpPr>
        <p:spPr>
          <a:xfrm>
            <a:off x="769010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364224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6409944" y="3429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held-out data.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Accuracy? Precision?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Bias?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8211312" y="1737360"/>
            <a:ext cx="1874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1" name="Shape 35"/>
          <p:cNvSpPr/>
          <p:nvPr/>
        </p:nvSpPr>
        <p:spPr>
          <a:xfrm>
            <a:off x="8211312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Shape 36"/>
          <p:cNvSpPr/>
          <p:nvPr/>
        </p:nvSpPr>
        <p:spPr>
          <a:xfrm>
            <a:off x="8782812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5692" y="2194560"/>
            <a:ext cx="365760" cy="36576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9628632" y="1874520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Text 38"/>
          <p:cNvSpPr/>
          <p:nvPr/>
        </p:nvSpPr>
        <p:spPr>
          <a:xfrm>
            <a:off x="962863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8302752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47" name="Text 40"/>
          <p:cNvSpPr/>
          <p:nvPr/>
        </p:nvSpPr>
        <p:spPr>
          <a:xfrm>
            <a:off x="8348472" y="3429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 API, batch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job, or embedded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10149840" y="1737360"/>
            <a:ext cx="18745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9" name="Shape 42"/>
          <p:cNvSpPr/>
          <p:nvPr/>
        </p:nvSpPr>
        <p:spPr>
          <a:xfrm>
            <a:off x="10149840" y="1737360"/>
            <a:ext cx="187452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0" name="Shape 43"/>
          <p:cNvSpPr/>
          <p:nvPr/>
        </p:nvSpPr>
        <p:spPr>
          <a:xfrm>
            <a:off x="10721340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4220" y="2194560"/>
            <a:ext cx="365760" cy="365760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11567160" y="1874520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3" name="Text 45"/>
          <p:cNvSpPr/>
          <p:nvPr/>
        </p:nvSpPr>
        <p:spPr>
          <a:xfrm>
            <a:off x="115671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4" name="Text 46"/>
          <p:cNvSpPr/>
          <p:nvPr/>
        </p:nvSpPr>
        <p:spPr>
          <a:xfrm>
            <a:off x="1024128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55" name="Text 47"/>
          <p:cNvSpPr/>
          <p:nvPr/>
        </p:nvSpPr>
        <p:spPr>
          <a:xfrm>
            <a:off x="10287000" y="3429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drift. Retrain.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step 1.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457200" y="5166360"/>
            <a:ext cx="11247120" cy="11430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7" name="Shape 49"/>
          <p:cNvSpPr/>
          <p:nvPr/>
        </p:nvSpPr>
        <p:spPr>
          <a:xfrm>
            <a:off x="457200" y="5166360"/>
            <a:ext cx="73152" cy="1143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8" name="Shape 50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486400"/>
            <a:ext cx="274320" cy="27432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15087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LOOP, not a pipeline</a:t>
            </a:r>
            <a:endParaRPr lang="en-US" sz="1400" dirty="0"/>
          </a:p>
        </p:txBody>
      </p:sp>
      <p:sp>
        <p:nvSpPr>
          <p:cNvPr id="61" name="Text 52"/>
          <p:cNvSpPr/>
          <p:nvPr/>
        </p:nvSpPr>
        <p:spPr>
          <a:xfrm>
            <a:off x="1508760" y="5623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degrade the moment they hit production. Data changes, users change, the world changes. "Deploy once and forget" is how ML systems die silently in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Services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— pre-built to custom, low to high effort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tiers of AWS AI/ML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highest tier that solves your problem. Higher = less code, faster to ship, less flexibility.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337560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APIs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 developers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by AWS. Call an API, get a result. Zero ML expertise required. Rekognition, Comprehend, Transcribe, Polly, Translate, Textract.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5"/>
          <p:cNvSpPr/>
          <p:nvPr/>
        </p:nvSpPr>
        <p:spPr>
          <a:xfrm>
            <a:off x="4297680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4480560" y="2011680"/>
            <a:ext cx="33375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4480560" y="2011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effort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5146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80560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LLM applications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84048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access to foundation models — Claude, Llama, Titan, Mistral. Build chatbots, summarizers, agents without touching GPUs.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5" name="Shape 23"/>
          <p:cNvSpPr/>
          <p:nvPr/>
        </p:nvSpPr>
        <p:spPr>
          <a:xfrm>
            <a:off x="8138160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Shape 24"/>
          <p:cNvSpPr/>
          <p:nvPr/>
        </p:nvSpPr>
        <p:spPr>
          <a:xfrm>
            <a:off x="8321040" y="2011680"/>
            <a:ext cx="3337560" cy="36576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8321040" y="2011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25146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21040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104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ML practitioners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384048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to build, train, and deploy custom models. Studio IDE, managed training, endpoints, feature store, pipelines.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• TIER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AI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behind an API. Nothing to train, nothing to deploy. Perfect for common tasks.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258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objects, faces, text, unsafe content in images and video. Face comparison, celebrity recognition.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97680" y="17373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4297680" y="1737360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4480560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031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16636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26280" y="2606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entities, sentiment, key phrases, language. PII detection. Custom classification if needed.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173736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19"/>
          <p:cNvSpPr/>
          <p:nvPr/>
        </p:nvSpPr>
        <p:spPr>
          <a:xfrm>
            <a:off x="8138160" y="1737360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20"/>
          <p:cNvSpPr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031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068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90068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366760" y="2606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audio to text. Real-time streaming or batch. Speaker identification, medical &amp; call vocabularies.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7200" y="338328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Shape 25"/>
          <p:cNvSpPr/>
          <p:nvPr/>
        </p:nvSpPr>
        <p:spPr>
          <a:xfrm>
            <a:off x="457200" y="3383280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Shape 26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4904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3258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3258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Speech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85800" y="42519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lifelike speech. 60+ voices, 30+ languages. Neural voices sound near-human.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297680" y="338328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7" name="Shape 31"/>
          <p:cNvSpPr/>
          <p:nvPr/>
        </p:nvSpPr>
        <p:spPr>
          <a:xfrm>
            <a:off x="4297680" y="3383280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Shape 32"/>
          <p:cNvSpPr/>
          <p:nvPr/>
        </p:nvSpPr>
        <p:spPr>
          <a:xfrm>
            <a:off x="4480560" y="361188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74904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663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51663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526280" y="42519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languages. Real-time or batch. Custom terminology. Powers subtitling, chat translation, docs.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8138160" y="3383280"/>
            <a:ext cx="37033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7"/>
          <p:cNvSpPr/>
          <p:nvPr/>
        </p:nvSpPr>
        <p:spPr>
          <a:xfrm>
            <a:off x="8138160" y="3383280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8"/>
          <p:cNvSpPr/>
          <p:nvPr/>
        </p:nvSpPr>
        <p:spPr>
          <a:xfrm>
            <a:off x="8321040" y="361188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3749040"/>
            <a:ext cx="274320" cy="27432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00684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90068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OCR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8366760" y="42519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text, tables, and form fields from scanned docs and PDFs. Handles handwriting, receipts, IDs.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1" name="Shape 43"/>
          <p:cNvSpPr/>
          <p:nvPr/>
        </p:nvSpPr>
        <p:spPr>
          <a:xfrm>
            <a:off x="457200" y="5212080"/>
            <a:ext cx="73152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2" name="Shape 44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" y="5474970"/>
            <a:ext cx="251460" cy="251460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146304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first</a:t>
            </a:r>
            <a:endParaRPr lang="en-US" sz="1300" dirty="0"/>
          </a:p>
        </p:txBody>
      </p:sp>
      <p:sp>
        <p:nvSpPr>
          <p:cNvPr id="55" name="Text 46"/>
          <p:cNvSpPr/>
          <p:nvPr/>
        </p:nvSpPr>
        <p:spPr>
          <a:xfrm>
            <a:off x="1463040" y="55778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80% of real-world AI needs, one of these services solves it faster than any custom model. Only reach for SageMaker if none of them fit.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• TIER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— the ML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2344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68680" cy="8686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771650"/>
            <a:ext cx="434340" cy="4343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platform for building custom ML.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28800" y="1920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the ML lifecycle, managed. You bring the data and the algorithm; AWS handles GPUs, distributed training, endpoints, and MLOps plumbing.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14325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85800" y="36118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IDE for notebooks, experiments, and model debugging.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27889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6"/>
          <p:cNvSpPr/>
          <p:nvPr/>
        </p:nvSpPr>
        <p:spPr>
          <a:xfrm>
            <a:off x="429768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4480560" y="30175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314325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064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526280" y="36118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training jobs on GPU instances. Distributed &amp; spot-friendly.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138160" y="27889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1"/>
          <p:cNvSpPr/>
          <p:nvPr/>
        </p:nvSpPr>
        <p:spPr>
          <a:xfrm>
            <a:off x="813816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8321040" y="30175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3143250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6112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366760" y="36118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APIs, serverless, or batch transform jobs.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7200" y="46177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26"/>
          <p:cNvSpPr/>
          <p:nvPr/>
        </p:nvSpPr>
        <p:spPr>
          <a:xfrm>
            <a:off x="45720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4972050"/>
            <a:ext cx="251460" cy="2514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80160" y="48920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85800" y="5440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repo for ML features. Reused across models and teams.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297680" y="46177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1"/>
          <p:cNvSpPr/>
          <p:nvPr/>
        </p:nvSpPr>
        <p:spPr>
          <a:xfrm>
            <a:off x="429768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4480560" y="48463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290" y="4972050"/>
            <a:ext cx="251460" cy="2514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120640" y="48920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4526280" y="5440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approve, and promote models through environments.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138160" y="461772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813816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7"/>
          <p:cNvSpPr/>
          <p:nvPr/>
        </p:nvSpPr>
        <p:spPr>
          <a:xfrm>
            <a:off x="8321040" y="48463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6770" y="4972050"/>
            <a:ext cx="251460" cy="25146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961120" y="48920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8366760" y="5440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ML — data prep → train → evaluate → deploy, orchestrated.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• TIER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— foundation models as a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2344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68680" cy="8686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771650"/>
            <a:ext cx="434340" cy="4343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from many vendors — through one API.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828800" y="1920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management. No model hosting. Pay per token. Data stays in your AWS account — not used to retrain the models.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55321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73152" cy="3474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685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 the shelf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" y="33375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(Anthropic) — general-purpose, long-context, strong reasoning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(Meta) — open-weight, popular for fine-tuning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(Amazon) — text generation + embeddings, tight AWS integration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European models, competitive small-model performance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Diffusion, Nova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image generation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72200" y="2788920"/>
            <a:ext cx="55321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172200" y="2788920"/>
            <a:ext cx="73152" cy="34747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6"/>
          <p:cNvSpPr/>
          <p:nvPr/>
        </p:nvSpPr>
        <p:spPr>
          <a:xfrm>
            <a:off x="640080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Bedrock ships with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00800" y="33375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API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boto3 call. Streaming supported.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managed RAG. Point at your S3 docs, done.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LLM calls other AWS services &amp; APIs autonomously.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content filtering, PII redaction, topic denial.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Throughput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reserve capacity for predictable latency.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MLOps, and shipping responsibly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•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are expensive. Foundation model calls add up.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 workloads look cheap in a demo and terrifying in production. Know where the money goes before you commit.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25146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 instances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p4d, p5, H100s run $3-40/hour. Multiply by days.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inference endpoints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idle GPU still bills. Kill unused endpoints.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tokens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input + output tokens metered. Long context = big bills.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storage + queries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OpenSearch clusters cost real money.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moving training data across regions/AZs adds up fast.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173736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172200" y="1737360"/>
            <a:ext cx="73152" cy="4526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6400800" y="192024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574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bills sane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00800" y="25146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smallest model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Claude Haiku before Opus. Llama 8B before 70B.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Spot instances for training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70-90% off. Checkpoint often.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inference for spiky loads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SageMaker Serverless, Bedrock on-demand.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LLM responses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identical prompts don't need repeat calls.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alarms early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$10 today, $10,000 next week is a real failure mode.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• 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and model drift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was 95% accurate at launch is 78% accurate six months in — and nobody noticed. This is the MLOps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259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828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= DevOps for machine learning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783080" y="22860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for data → train → deploy → monitor, with rollback and re-training built in. SageMaker Pipelines, Kubeflow, MLflow.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6324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73152" cy="3200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1943100" y="333756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980" y="35204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" y="4206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" y="4754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 shifts. Your training data was pre-COVID; production is now post-COVID. Same features, different values.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297680" y="306324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4297680" y="3063240"/>
            <a:ext cx="73152" cy="3200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18"/>
          <p:cNvSpPr/>
          <p:nvPr/>
        </p:nvSpPr>
        <p:spPr>
          <a:xfrm>
            <a:off x="5783580" y="333756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35204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80560" y="4206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526280" y="4754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inputs and outputs changes. Fraud patterns evolve. What predicted churn last year no longer does.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138160" y="306324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8138160" y="3063240"/>
            <a:ext cx="73152" cy="3200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3"/>
          <p:cNvSpPr/>
          <p:nvPr/>
        </p:nvSpPr>
        <p:spPr>
          <a:xfrm>
            <a:off x="9624060" y="333756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6940" y="352044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321040" y="4206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drift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366760" y="4754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you care about slide. Accuracy drops. Latency creeps up. Usually a symptom of the two above.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•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— the risks you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responsible for what your ML systems do — including the surprises. Ignoring these gets teams sued, fired, and regulated.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0916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5603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reflect training data. Biased data → biased predictions. Test across demographic slices before shipping.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297680" y="173736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290" y="209169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25603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confident nonsense. Always. Ground answers in retrieval, verify facts, warn users the output can be wrong.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173736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8138160" y="173736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18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770" y="209169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6112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66760" y="256032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send PII to third-party APIs. Redact before prompts. Watch what training data leaks in outputs.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457200" y="4114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3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446913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85800" y="49377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filtering, content moderation, guardrails. Bedrock Guardrails, moderation APIs, structured output validation.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9768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4297680" y="4114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Shape 28"/>
          <p:cNvSpPr/>
          <p:nvPr/>
        </p:nvSpPr>
        <p:spPr>
          <a:xfrm>
            <a:off x="4480560" y="43434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290" y="4469130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526280" y="49377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why the model said no to this loan? Regulators expect yes. SHAP, LIME, Bedrock model cards.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138160" y="4114800"/>
            <a:ext cx="3703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8138160" y="4114800"/>
            <a:ext cx="73152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Shape 33"/>
          <p:cNvSpPr/>
          <p:nvPr/>
        </p:nvSpPr>
        <p:spPr>
          <a:xfrm>
            <a:off x="8321040" y="43434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6770" y="4469130"/>
            <a:ext cx="251460" cy="2514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61120" y="4389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8366760" y="49377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is live. Kenya, US, others following. High-risk uses need documentation, audits, human oversight.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1610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7: AI &amp; ML in the Cloud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9743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229743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40080" y="252603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64033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46202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nested terms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34440" y="275463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⊃ ML ⊃ DL ⊃ GenAI ⊃ LLMs. Never synonyms.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229743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297680" y="229743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480560" y="252603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264033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246202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 loop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74920" y="275463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train → deploy → monitor → repeat. Not one-way.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229743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6"/>
          <p:cNvSpPr/>
          <p:nvPr/>
        </p:nvSpPr>
        <p:spPr>
          <a:xfrm>
            <a:off x="8138160" y="229743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8321040" y="252603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264033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15400" y="246202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AWS tiers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915400" y="275463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AI services, Bedrock, SageMaker. Pick the highest that fits.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62331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1"/>
          <p:cNvSpPr/>
          <p:nvPr/>
        </p:nvSpPr>
        <p:spPr>
          <a:xfrm>
            <a:off x="457200" y="362331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640080" y="385191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96621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378790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for LLMs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234440" y="408051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via API. Claude, Llama, Titan. Pay per token.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297680" y="3673602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4297680" y="3673602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7"/>
          <p:cNvSpPr/>
          <p:nvPr/>
        </p:nvSpPr>
        <p:spPr>
          <a:xfrm>
            <a:off x="4480560" y="3902202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4016502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074920" y="383819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bite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5074920" y="4130802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model first, spot for training, kill idle endpoints.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8138160" y="3673602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0" name="Shape 41"/>
          <p:cNvSpPr/>
          <p:nvPr/>
        </p:nvSpPr>
        <p:spPr>
          <a:xfrm>
            <a:off x="8138160" y="3673602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Shape 42"/>
          <p:cNvSpPr/>
          <p:nvPr/>
        </p:nvSpPr>
        <p:spPr>
          <a:xfrm>
            <a:off x="8321040" y="3902202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340" y="4016502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8915400" y="383819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outputs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8915400" y="4130802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hallucination, privacy, safety. Test before shipping.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2824</TotalTime>
  <Words>1869</Words>
  <Application>Microsoft Macintosh PowerPoint</Application>
  <PresentationFormat>Widescreen</PresentationFormat>
  <Paragraphs>259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the Cloud — Session 7</dc:title>
  <dc:subject>PptxGenJS Presentation</dc:subject>
  <dc:creator>KamiLimu Cloud Track</dc:creator>
  <cp:lastModifiedBy>Mark Kibara</cp:lastModifiedBy>
  <cp:revision>2</cp:revision>
  <dcterms:created xsi:type="dcterms:W3CDTF">2026-09-25T15:13:47Z</dcterms:created>
  <dcterms:modified xsi:type="dcterms:W3CDTF">2026-09-28T07:40:59Z</dcterms:modified>
</cp:coreProperties>
</file>