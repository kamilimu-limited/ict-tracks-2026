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8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3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packets and protocols to AWS VPCs — building reliable, secure systems on the cloud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Mark Kibara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OSI, TCP/IP, the 3-way handshake, and TCP vs UDP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25196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443484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IPv4, public/private IPs, CIDR notation, subnetting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22960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154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names become IPs — records, TTL, Route 53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4008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HTTPS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status codes, TLS, and the modern HTTP versions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425196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43484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2064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balancers, NAT, proxies, and AWS ELB family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804672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822960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91540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and why caching wins at scale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6"/>
          <p:cNvSpPr/>
          <p:nvPr/>
        </p:nvSpPr>
        <p:spPr>
          <a:xfrm>
            <a:off x="45720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7"/>
          <p:cNvSpPr/>
          <p:nvPr/>
        </p:nvSpPr>
        <p:spPr>
          <a:xfrm>
            <a:off x="64008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32588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Subnets, gateways, route tables, SGs vs NACLs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3" name="Shape 41"/>
          <p:cNvSpPr/>
          <p:nvPr/>
        </p:nvSpPr>
        <p:spPr>
          <a:xfrm>
            <a:off x="425196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Text 42"/>
          <p:cNvSpPr/>
          <p:nvPr/>
        </p:nvSpPr>
        <p:spPr>
          <a:xfrm>
            <a:off x="443484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12064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3484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packet journey — and the tools to debug it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4672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8" name="Shape 46"/>
          <p:cNvSpPr/>
          <p:nvPr/>
        </p:nvSpPr>
        <p:spPr>
          <a:xfrm>
            <a:off x="804672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9" name="Text 47"/>
          <p:cNvSpPr/>
          <p:nvPr/>
        </p:nvSpPr>
        <p:spPr>
          <a:xfrm>
            <a:off x="822960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891540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2960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3-tier architecture on AWS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behind every network connection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all just packets, finding their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is how computers talk to each other.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cloud feature you'll touch — auto-scaling, load balancing, multi-AZ, even logging — sits on top of a network. Understand the network, and the cloud stops feeling like magic.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Wi-Fi, an office floor. Switches, MAC addresses, broadcast.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310896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45262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offices across cities or countries. Routers, leased lines.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657600" cy="3200400"/>
          </a:xfrm>
          <a:prstGeom prst="rect">
            <a:avLst/>
          </a:prstGeom>
          <a:solidFill>
            <a:srgbClr val="0F2A47"/>
          </a:solidFill>
          <a:ln w="952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6576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210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343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networks, glued together by IP and BGP. Anycast, peering, CDNs.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— 7 layers of abstraction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model for what's happening when two computers talk. "Which layer is failing?" is the fastest way to debug.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640080" cy="6309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SMTP, gRPC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640080" cy="6309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368296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368296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encryption, compression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640080" cy="6309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457200" y="3044952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044952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044952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21608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Shape 22"/>
          <p:cNvSpPr/>
          <p:nvPr/>
        </p:nvSpPr>
        <p:spPr>
          <a:xfrm>
            <a:off x="457200" y="3721608"/>
            <a:ext cx="640080" cy="630936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/>
          <p:nvPr/>
        </p:nvSpPr>
        <p:spPr>
          <a:xfrm>
            <a:off x="457200" y="3721608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3721608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721608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UDP, ports, handshake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398264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7"/>
          <p:cNvSpPr/>
          <p:nvPr/>
        </p:nvSpPr>
        <p:spPr>
          <a:xfrm>
            <a:off x="457200" y="4398264"/>
            <a:ext cx="640080" cy="630936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8"/>
          <p:cNvSpPr/>
          <p:nvPr/>
        </p:nvSpPr>
        <p:spPr>
          <a:xfrm>
            <a:off x="457200" y="4398264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4398264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91840" y="4398264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routing, subnets, CIDR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5074920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2"/>
          <p:cNvSpPr/>
          <p:nvPr/>
        </p:nvSpPr>
        <p:spPr>
          <a:xfrm>
            <a:off x="457200" y="5074920"/>
            <a:ext cx="640080" cy="630936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3"/>
          <p:cNvSpPr/>
          <p:nvPr/>
        </p:nvSpPr>
        <p:spPr>
          <a:xfrm>
            <a:off x="457200" y="5074920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34440" y="5074920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91840" y="5074920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addresses, switches, VLANs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751576"/>
            <a:ext cx="68580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7"/>
          <p:cNvSpPr/>
          <p:nvPr/>
        </p:nvSpPr>
        <p:spPr>
          <a:xfrm>
            <a:off x="457200" y="5751576"/>
            <a:ext cx="640080" cy="630936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8"/>
          <p:cNvSpPr/>
          <p:nvPr/>
        </p:nvSpPr>
        <p:spPr>
          <a:xfrm>
            <a:off x="457200" y="5751576"/>
            <a:ext cx="640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34440" y="5751576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91840" y="5751576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NICs, radio waves, bits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42"/>
          <p:cNvSpPr/>
          <p:nvPr/>
        </p:nvSpPr>
        <p:spPr>
          <a:xfrm>
            <a:off x="758952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43"/>
          <p:cNvSpPr/>
          <p:nvPr/>
        </p:nvSpPr>
        <p:spPr>
          <a:xfrm>
            <a:off x="7818120" y="18745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11680"/>
            <a:ext cx="274320" cy="27432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54964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781812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Do Not Throw Sausage Pizza Away"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818120" y="3063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→ Data Link → Network → Transport → Session → Presentation → Application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8181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7955280" y="41605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error to a layer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"Connection refused" — L4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"DNS not resolving" — L7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route to host" — L3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"Cable unplugged" — L1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— the model the internet actually uses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is the textbook. TCP/IP is what's running on every machine right now.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7 layers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8036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Presentation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38328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822960" y="3383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Transport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822960" y="4389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Link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3200400" cy="43891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822960" y="5394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Physical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520440"/>
            <a:ext cx="9144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486400" y="1691640"/>
            <a:ext cx="6217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4"/>
          <p:cNvSpPr/>
          <p:nvPr/>
        </p:nvSpPr>
        <p:spPr>
          <a:xfrm>
            <a:off x="5486400" y="1691640"/>
            <a:ext cx="621792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5"/>
          <p:cNvSpPr/>
          <p:nvPr/>
        </p:nvSpPr>
        <p:spPr>
          <a:xfrm>
            <a:off x="566928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— 4 layers (the practical one)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715000" y="2377440"/>
            <a:ext cx="5760720" cy="9144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58978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8978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OSI L5–L7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4124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HTTP, DNS, SSH, SMTP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715000" y="3364992"/>
            <a:ext cx="5760720" cy="9144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1"/>
          <p:cNvSpPr/>
          <p:nvPr/>
        </p:nvSpPr>
        <p:spPr>
          <a:xfrm>
            <a:off x="589788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89788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OSI L4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412480" y="33649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TCP, UDP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715000" y="4352544"/>
            <a:ext cx="5760720" cy="9144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5"/>
          <p:cNvSpPr/>
          <p:nvPr/>
        </p:nvSpPr>
        <p:spPr>
          <a:xfrm>
            <a:off x="5897880" y="4443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897880" y="4764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OSI L3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412480" y="435254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IP, ICMP (ping), ARP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715000" y="5340096"/>
            <a:ext cx="5760720" cy="9144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39"/>
          <p:cNvSpPr/>
          <p:nvPr/>
        </p:nvSpPr>
        <p:spPr>
          <a:xfrm>
            <a:off x="5897880" y="5431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897880" y="5751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OSI L1–L2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412480" y="534009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Ethernet, Wi-Fi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• 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3-way handshake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data flows, TCP establishes a connection in three messages.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286000" cy="4389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1325880" y="192024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0574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418320" y="1737360"/>
            <a:ext cx="2286000" cy="4389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10287000" y="192024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20574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183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4183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0" y="2514600"/>
            <a:ext cx="66751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5"/>
          <p:cNvSpPr/>
          <p:nvPr/>
        </p:nvSpPr>
        <p:spPr>
          <a:xfrm>
            <a:off x="5715000" y="214884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6"/>
          <p:cNvSpPr/>
          <p:nvPr/>
        </p:nvSpPr>
        <p:spPr>
          <a:xfrm>
            <a:off x="57150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92608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92608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can we talk?”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743200" y="3931920"/>
            <a:ext cx="66751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0"/>
          <p:cNvSpPr/>
          <p:nvPr/>
        </p:nvSpPr>
        <p:spPr>
          <a:xfrm>
            <a:off x="5715000" y="356616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1"/>
          <p:cNvSpPr/>
          <p:nvPr/>
        </p:nvSpPr>
        <p:spPr>
          <a:xfrm>
            <a:off x="571500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6" name="Text 22"/>
          <p:cNvSpPr/>
          <p:nvPr/>
        </p:nvSpPr>
        <p:spPr>
          <a:xfrm>
            <a:off x="292608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+ ACK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292608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 — and hello to you too”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743200" y="5349240"/>
            <a:ext cx="66751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29" name="Shape 25"/>
          <p:cNvSpPr/>
          <p:nvPr/>
        </p:nvSpPr>
        <p:spPr>
          <a:xfrm>
            <a:off x="5715000" y="498348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6"/>
          <p:cNvSpPr/>
          <p:nvPr/>
        </p:nvSpPr>
        <p:spPr>
          <a:xfrm>
            <a:off x="571500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1" name="Text 27"/>
          <p:cNvSpPr/>
          <p:nvPr/>
        </p:nvSpPr>
        <p:spPr>
          <a:xfrm>
            <a:off x="2926080" y="4937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292608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“Great, let's go.”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• 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transport protocols. Same family, very different jobs.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262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087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ordered, slow-ish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Connection-oriented. Every byte is acknowledged. Lost packets get retransmitted.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2918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handshake before data flows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numbered and re-ordered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adapts to network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start, but reliable delivery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HTTP, SSH, SMTP, database connections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0345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2237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Fire-and-forget, blazingly fast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00800" y="2697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Connectionless. Send packets and hope. No retransmits, no ordering.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2918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handshake — first packet has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may arrive out of order or be lost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latency, lower overhead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must handle reliability if needed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DNS, video calls, gaming, QUIC (HTTP/3)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CIDR, subnets — how the network knows where you are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— the address on every packet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IPv4 address is 32 bits — written as four numbers (0–255) separated by dots: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192.168.1.100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5321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73152" cy="3246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17320" y="3474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routable on the internet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931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ranges anyone can use inside their own network: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10.0.0.0/8         </a:t>
            </a: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~16.7M addresses  (big corp / cloud VPCs)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172.16.0.0/12      </a:t>
            </a: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~1M addresses     (default Docker)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192.168.0.0/16     </a:t>
            </a: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~65k addresses    (your home Wi-Fi)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5623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private IP can exist in millions of networks at once — they don't collide because they never touch.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2971800"/>
            <a:ext cx="55321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19"/>
          <p:cNvSpPr/>
          <p:nvPr/>
        </p:nvSpPr>
        <p:spPr>
          <a:xfrm>
            <a:off x="6172200" y="2971800"/>
            <a:ext cx="73152" cy="32461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6400800" y="315468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918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3232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132320" y="3474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Routable on the global internet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00800" y="3931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unique. Anyone on the internet can reach this address.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46520" y="438912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and managed by Regional Internet Registries (e.g. AFRINIC for Africa)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has only ~4.3 billion total — they ran out years ago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AWS: every EC2 you launch with "auto-assign public IP" gets one from AWS's pool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IPs = public IPs you reserve and keep across instance restarts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CIDR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"10.0.0.0/16" the way an engineer reads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</a:t>
            </a:r>
            <a:r>
              <a:rPr lang="en-US" sz="6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6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73152" cy="2697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ADDRESS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of the address range. Everything in this network shares this prefix.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4251960" y="3520440"/>
            <a:ext cx="73152" cy="2697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LENGTH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8056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bits used for the network part. The remaining 32-16 = 16 bits are for hosts.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73152" cy="26974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82753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65,536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7532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2^(32-16) = 65,536 IPs. Range: 10.0.0.0 — 10.0.255.255. AWS reserves 5 per subnet.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— dividing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big CIDR block and slice it into smaller ones for organization, isolation, and routing.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68580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7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VPC: 10.0.0.0/16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65,536 IPs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3040380" cy="1600200"/>
          </a:xfrm>
          <a:prstGeom prst="rect">
            <a:avLst/>
          </a:prstGeom>
          <a:solidFill>
            <a:srgbClr val="EAF2F8"/>
          </a:solidFill>
          <a:ln w="158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304038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10.0.1.0/24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us-east-1a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00500" y="2697480"/>
            <a:ext cx="3040380" cy="1600200"/>
          </a:xfrm>
          <a:prstGeom prst="rect">
            <a:avLst/>
          </a:prstGeom>
          <a:solidFill>
            <a:srgbClr val="EAF2F8"/>
          </a:solidFill>
          <a:ln w="158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4000500" y="2697480"/>
            <a:ext cx="304038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4137660" y="269748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37660" y="320040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10.0.2.0/24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37660" y="356616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us-east-1b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37660" y="384048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3040380" cy="1600200"/>
          </a:xfrm>
          <a:prstGeom prst="rect">
            <a:avLst/>
          </a:prstGeom>
          <a:solidFill>
            <a:srgbClr val="EAF2F8"/>
          </a:solidFill>
          <a:ln w="15875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2"/>
          <p:cNvSpPr/>
          <p:nvPr/>
        </p:nvSpPr>
        <p:spPr>
          <a:xfrm>
            <a:off x="731520" y="4434840"/>
            <a:ext cx="3040380" cy="4114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10.0.11.0/24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30352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us-east-1a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55778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00500" y="4434840"/>
            <a:ext cx="3040380" cy="1600200"/>
          </a:xfrm>
          <a:prstGeom prst="rect">
            <a:avLst/>
          </a:prstGeom>
          <a:solidFill>
            <a:srgbClr val="EAF2F8"/>
          </a:solidFill>
          <a:ln w="15875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8"/>
          <p:cNvSpPr/>
          <p:nvPr/>
        </p:nvSpPr>
        <p:spPr>
          <a:xfrm>
            <a:off x="4000500" y="4434840"/>
            <a:ext cx="3040380" cy="4114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4137660" y="443484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37660" y="493776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10.0.12.0/24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37660" y="5303520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us-east-1b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37660" y="5577840"/>
            <a:ext cx="27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1737360"/>
            <a:ext cx="4114800" cy="4480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6" name="Shape 34"/>
          <p:cNvSpPr/>
          <p:nvPr/>
        </p:nvSpPr>
        <p:spPr>
          <a:xfrm>
            <a:off x="7589520" y="1737360"/>
            <a:ext cx="73152" cy="4480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Text 35"/>
          <p:cNvSpPr/>
          <p:nvPr/>
        </p:nvSpPr>
        <p:spPr>
          <a:xfrm>
            <a:off x="781812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subnet?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863840" y="251460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web tier separated from database tier.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live in ONE AZ. Span subnets across AZs for fault tolerance.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control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subnets = different routing rules.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ACLs are applied at subnet level.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finds anything — names become IPs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type a URL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page load is a cascade of lookups. Knowing the path lets you cache, debug, and optimize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120140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11201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local memory.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seen recently?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2395728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3058668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30586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87168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7168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hostname cache.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34256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4334256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20"/>
          <p:cNvSpPr/>
          <p:nvPr/>
        </p:nvSpPr>
        <p:spPr>
          <a:xfrm>
            <a:off x="4997196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499719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25696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resolver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25696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ISP or 1.1.1.1.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heavy work.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2784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5"/>
          <p:cNvSpPr/>
          <p:nvPr/>
        </p:nvSpPr>
        <p:spPr>
          <a:xfrm>
            <a:off x="6272784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6935724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693572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64224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TLD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64224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know .com,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 knows kamilimu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11312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8211312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Shape 32"/>
          <p:cNvSpPr/>
          <p:nvPr/>
        </p:nvSpPr>
        <p:spPr>
          <a:xfrm>
            <a:off x="8874252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3"/>
          <p:cNvSpPr/>
          <p:nvPr/>
        </p:nvSpPr>
        <p:spPr>
          <a:xfrm>
            <a:off x="887425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02752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02752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zone.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back the IP.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49840" y="1737360"/>
            <a:ext cx="18745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7"/>
          <p:cNvSpPr/>
          <p:nvPr/>
        </p:nvSpPr>
        <p:spPr>
          <a:xfrm>
            <a:off x="10149840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Shape 38"/>
          <p:cNvSpPr/>
          <p:nvPr/>
        </p:nvSpPr>
        <p:spPr>
          <a:xfrm>
            <a:off x="10812780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1" name="Text 39"/>
          <p:cNvSpPr/>
          <p:nvPr/>
        </p:nvSpPr>
        <p:spPr>
          <a:xfrm>
            <a:off x="108127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24128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&amp; returned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24128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gets IP.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lookups skip steps.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73152" cy="2103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6" name="Shape 44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446270"/>
            <a:ext cx="297180" cy="29718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60020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1600200" y="4617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terminal — see the full resolution path: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60020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dig +trace google.com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dig +short google.com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getent hosts google.com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resolvectl status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types you'll meet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is a database. Each record type answers a different question.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name → IPv4 address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kamilimu.org → 52.84.12.7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4434840" y="18745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443484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Address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name → IPv6 address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site.com → 2001:db8::1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8138160" y="16916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2"/>
          <p:cNvSpPr/>
          <p:nvPr/>
        </p:nvSpPr>
        <p:spPr>
          <a:xfrm>
            <a:off x="8275320" y="18745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/>
          <p:nvPr/>
        </p:nvSpPr>
        <p:spPr>
          <a:xfrm>
            <a:off x="827532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7260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Name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26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one name to another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www.site.com → site.com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9"/>
          <p:cNvSpPr/>
          <p:nvPr/>
        </p:nvSpPr>
        <p:spPr>
          <a:xfrm>
            <a:off x="594360" y="34747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59436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9164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Exchange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9164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email for this domain goes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kamilimu.org → smtp.google.com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32918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7" name="Shape 35"/>
          <p:cNvSpPr/>
          <p:nvPr/>
        </p:nvSpPr>
        <p:spPr>
          <a:xfrm>
            <a:off x="4297680" y="32918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Shape 36"/>
          <p:cNvSpPr/>
          <p:nvPr/>
        </p:nvSpPr>
        <p:spPr>
          <a:xfrm>
            <a:off x="4434840" y="34747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7"/>
          <p:cNvSpPr/>
          <p:nvPr/>
        </p:nvSpPr>
        <p:spPr>
          <a:xfrm>
            <a:off x="443484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321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text — verification, SPF/DKIM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48056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v=spf1 include:_spf.gmail.com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38160" y="3291840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42"/>
          <p:cNvSpPr/>
          <p:nvPr/>
        </p:nvSpPr>
        <p:spPr>
          <a:xfrm>
            <a:off x="8138160" y="3291840"/>
            <a:ext cx="73152" cy="1481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43"/>
          <p:cNvSpPr/>
          <p:nvPr/>
        </p:nvSpPr>
        <p:spPr>
          <a:xfrm>
            <a:off x="8275320" y="3474720"/>
            <a:ext cx="100584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6" name="Text 44"/>
          <p:cNvSpPr/>
          <p:nvPr/>
        </p:nvSpPr>
        <p:spPr>
          <a:xfrm>
            <a:off x="827532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3726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Server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372600" y="37947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servers for this domain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2104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kamilimu.org → ns-1.aws.com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9"/>
          <p:cNvSpPr/>
          <p:nvPr/>
        </p:nvSpPr>
        <p:spPr>
          <a:xfrm>
            <a:off x="685800" y="521208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5372100"/>
            <a:ext cx="320040" cy="32004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554480" y="4983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has a special record called </a:t>
            </a: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looks like a CNAME but works at the zone root (e.g. </a:t>
            </a: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kamilimu.org</a:t>
            </a: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ALB DNS name). Free of charge, AWS-only.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— Time To Live. Power AND danger.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tells resolvers how long to cache a DNS record before asking again.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— 5 minutes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caching. Changes propagate fast.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scenarios — switch to backup fast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or canary deployments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that change frequently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DNS queries → more load on your authoritative servers → more $$ on Route 53.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TTL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— 24 hours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load, but slow to react. Stale caches everywhere.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records that almost never change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DNS query costs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page-load performance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1663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to change the IP urgently, old resolvers will keep sending traffic to the old address until TTL expires.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— DNS as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508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managed DNS — and so much more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20240" y="20116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DNS, domain registration, health checks, traffic routing — all in one service. Named after TCP port 53 (DNS).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policies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2249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73152" cy="3017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640080" y="3429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39319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one answer. The default.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816352" y="3200400"/>
            <a:ext cx="2249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2816352" y="3200400"/>
            <a:ext cx="73152" cy="3017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2999232" y="3429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044952" y="39319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traffic by % — 90% to v1, 10% to v2 for canary releases.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75504" y="3200400"/>
            <a:ext cx="2249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5175504" y="3200400"/>
            <a:ext cx="73152" cy="3017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5358384" y="3429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04104" y="39319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user to the AWS Region closest to them by network latency.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34656" y="3200400"/>
            <a:ext cx="2249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4"/>
          <p:cNvSpPr/>
          <p:nvPr/>
        </p:nvSpPr>
        <p:spPr>
          <a:xfrm>
            <a:off x="7534656" y="3200400"/>
            <a:ext cx="73152" cy="3017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5"/>
          <p:cNvSpPr/>
          <p:nvPr/>
        </p:nvSpPr>
        <p:spPr>
          <a:xfrm>
            <a:off x="7717536" y="3429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63256" y="39319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secondary. Auto-fail to standby on health-check failure.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893808" y="3200400"/>
            <a:ext cx="22494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1" name="Shape 28"/>
          <p:cNvSpPr/>
          <p:nvPr/>
        </p:nvSpPr>
        <p:spPr>
          <a:xfrm>
            <a:off x="9893808" y="3200400"/>
            <a:ext cx="73152" cy="3017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29"/>
          <p:cNvSpPr/>
          <p:nvPr/>
        </p:nvSpPr>
        <p:spPr>
          <a:xfrm>
            <a:off x="10076688" y="3429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122408" y="39319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user's country or continent — useful for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HTTPS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behind every web request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status codes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request/response. Method = what you want to do. Status code = how it went.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(verbs)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to do with the resource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resource. Safe &amp; idempotent.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355848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68580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3355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new. Not idempotent.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014216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685800" y="40142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4014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resource entirely. Idempotent.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672584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685800" y="46725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46725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update. Often idempotent.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330952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/>
          <p:nvPr/>
        </p:nvSpPr>
        <p:spPr>
          <a:xfrm>
            <a:off x="685800" y="53309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5330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resource. Idempotent.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request went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697480"/>
            <a:ext cx="109728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6400800" y="2697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2xx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35240" y="2679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35240" y="30083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OK, 201 Created, 204 No Content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3538728"/>
            <a:ext cx="1097280" cy="6858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4"/>
          <p:cNvSpPr/>
          <p:nvPr/>
        </p:nvSpPr>
        <p:spPr>
          <a:xfrm>
            <a:off x="6400800" y="353872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3xx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3524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35240" y="38496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Moved, 302 Found, 304 Not Modified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4379976"/>
            <a:ext cx="109728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8"/>
          <p:cNvSpPr/>
          <p:nvPr/>
        </p:nvSpPr>
        <p:spPr>
          <a:xfrm>
            <a:off x="6400800" y="437997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4xx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35240" y="4361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error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35240" y="4690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Request, 401 Unauthorized, 404 Not Found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5221224"/>
            <a:ext cx="109728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Text 42"/>
          <p:cNvSpPr/>
          <p:nvPr/>
        </p:nvSpPr>
        <p:spPr>
          <a:xfrm>
            <a:off x="6400800" y="5221224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635240" y="5202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3524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Internal, 502 Bad Gateway, 503 Unavailable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TLS encryption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HTTP, wrapped in a secure tunnel. The little padlock icon is doing real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8026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874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provides three guarantees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783080" y="2286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(no eavesdropping) — Integrity (no tampering) — Authentication (you're really talking to who you think)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TLS handshake (simplified)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1289304" y="370332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1289304" y="3703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48640" y="4389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Hello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4800600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supported ciphers and TLS versions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16352" y="3474720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19"/>
          <p:cNvSpPr/>
          <p:nvPr/>
        </p:nvSpPr>
        <p:spPr>
          <a:xfrm>
            <a:off x="2816352" y="347472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3648456" y="370332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3648456" y="3703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907792" y="4389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Hello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953512" y="4800600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picks a cipher, sends its certificate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75504" y="3474720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5"/>
          <p:cNvSpPr/>
          <p:nvPr/>
        </p:nvSpPr>
        <p:spPr>
          <a:xfrm>
            <a:off x="5175504" y="347472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Shape 26"/>
          <p:cNvSpPr/>
          <p:nvPr/>
        </p:nvSpPr>
        <p:spPr>
          <a:xfrm>
            <a:off x="6007608" y="370332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6007608" y="3703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266944" y="4389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cert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12664" y="4800600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 chain → trusted CA → not expired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534656" y="3474720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1"/>
          <p:cNvSpPr/>
          <p:nvPr/>
        </p:nvSpPr>
        <p:spPr>
          <a:xfrm>
            <a:off x="7534656" y="347472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Shape 32"/>
          <p:cNvSpPr/>
          <p:nvPr/>
        </p:nvSpPr>
        <p:spPr>
          <a:xfrm>
            <a:off x="8366760" y="370332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3"/>
          <p:cNvSpPr/>
          <p:nvPr/>
        </p:nvSpPr>
        <p:spPr>
          <a:xfrm>
            <a:off x="8366760" y="3703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7626096" y="4389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671816" y="4800600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derive a shared symmetric key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893808" y="3474720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0" name="Shape 37"/>
          <p:cNvSpPr/>
          <p:nvPr/>
        </p:nvSpPr>
        <p:spPr>
          <a:xfrm>
            <a:off x="9893808" y="347472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1" name="Shape 38"/>
          <p:cNvSpPr/>
          <p:nvPr/>
        </p:nvSpPr>
        <p:spPr>
          <a:xfrm>
            <a:off x="10725912" y="370332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39"/>
          <p:cNvSpPr/>
          <p:nvPr/>
        </p:nvSpPr>
        <p:spPr>
          <a:xfrm>
            <a:off x="10725912" y="3703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9985248" y="438912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ready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0030968" y="4800600"/>
            <a:ext cx="1975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is encrypted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balancers, NAT, proxies — directing the flow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• LOAD BALANCING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vs L7 — two ways to spread the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spread incoming requests across multiple backends. They operate at different OSI layers — and that changes everything.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087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sees TCP/UDP only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IP and port. Doesn't understand HTTP, doesn't decrypt TLS.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383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— minimal processing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TCP/UDP protocol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route by URL path or HTTP header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terminate SSL/TLS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HAProxy, IPVS, AWS NLB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2237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speaks HTTP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0080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HTTP headers, URLs, cookies. Can decrypt TLS and route intelligently.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383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/api/* to one backend, /static/* to another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sessions, A/B tests, header-based routing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— offload SSL from your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(WAF) capabilities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Nginx, Envoy, Traefik, AWS ALB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• AWS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Load Balancer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ELB comes in four flavors. Pick by what you need to load balance.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89888" y="3017520"/>
            <a:ext cx="914400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1389888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3225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only. Path-based, host-based routing. Sticky sessions. Default for web apps.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28416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3328416" y="1691640"/>
            <a:ext cx="73152" cy="45720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3511296" y="196596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11296" y="2651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3017520"/>
            <a:ext cx="914400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4261104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57016" y="3566160"/>
            <a:ext cx="23225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TCP/UDP. Very high throughput, ultra-low latency. Static IP support. Game servers, real-time apps.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6199632" y="1691640"/>
            <a:ext cx="73152" cy="45720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382512" y="196596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GWLB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82512" y="2651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3017520"/>
            <a:ext cx="914400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28232" y="3566160"/>
            <a:ext cx="23225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through 3rd-party network appliances (firewalls, IDS). Niche but powerful.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70848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8"/>
          <p:cNvSpPr/>
          <p:nvPr/>
        </p:nvSpPr>
        <p:spPr>
          <a:xfrm>
            <a:off x="9070848" y="1691640"/>
            <a:ext cx="73152" cy="4572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9253728" y="196596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9253728" y="26517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03536" y="3017520"/>
            <a:ext cx="914400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10003536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L4/L7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99448" y="3566160"/>
            <a:ext cx="23225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Legacy. Predates ALB/NLB. New deployments should not use this. Migrate if you can.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1247120" cy="182880"/>
          </a:xfrm>
          <a:prstGeom prst="rect">
            <a:avLst/>
          </a:prstGeom>
          <a:solidFill>
            <a:srgbClr val="EAF2F8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• NAT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Address Translation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private IPs reach the public internet — and vice versa.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the SOURCE IP. Private machine → public internet. Your home router does this for every device.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709160"/>
            <a:ext cx="324612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 → 41.x.x.x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73152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452628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NAT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the DESTINATION IP. Used for port forwarding — exposing an internal service on a public IP/port.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4709160"/>
            <a:ext cx="324612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4526280" y="4709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Internet:80 → 10.0.5.20:8080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703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8138160" y="1691640"/>
            <a:ext cx="73152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836676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36676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Address Translation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29718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devices share ONE public IP by translating ports. Also called "NAT Overload" or "masquerade".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66760" y="4709160"/>
            <a:ext cx="324612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devices ←→ 1 public IP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8"/>
          <p:cNvSpPr/>
          <p:nvPr/>
        </p:nvSpPr>
        <p:spPr>
          <a:xfrm>
            <a:off x="457200" y="5486400"/>
            <a:ext cx="73152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9"/>
          <p:cNvSpPr/>
          <p:nvPr/>
        </p:nvSpPr>
        <p:spPr>
          <a:xfrm>
            <a:off x="777240" y="562356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772150"/>
            <a:ext cx="297180" cy="2971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554480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NAT Gateway: </a:t>
            </a: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SNAT for private subnets. EC2s in private subnets use it to reach the internet for updates, S3, APIs — without being directly exposed.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~$30/mo plus per-GB. Don't leave one running for a tutorial.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•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— bring the content closer to the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edge servers caching your content all over the world. Same origin, lower latency, smaller bill.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8580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3337560" y="3451860"/>
            <a:ext cx="1097280" cy="1097280"/>
          </a:xfrm>
          <a:prstGeom prst="ellipse">
            <a:avLst/>
          </a:prstGeom>
          <a:solidFill>
            <a:srgbClr val="0F2A47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63474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1800" y="45491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7180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S3 bucket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server)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280160" y="2606040"/>
            <a:ext cx="2130552" cy="109728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317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 flipH="1">
            <a:off x="4361688" y="2606040"/>
            <a:ext cx="2130552" cy="109728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4"/>
          <p:cNvSpPr/>
          <p:nvPr/>
        </p:nvSpPr>
        <p:spPr>
          <a:xfrm>
            <a:off x="6035040" y="214884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317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92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flipV="1">
            <a:off x="1280160" y="4411980"/>
            <a:ext cx="2172341" cy="89154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7"/>
          <p:cNvSpPr/>
          <p:nvPr/>
        </p:nvSpPr>
        <p:spPr>
          <a:xfrm>
            <a:off x="822960" y="484632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0292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5806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492240" y="5303520"/>
            <a:ext cx="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KE"/>
          </a:p>
        </p:txBody>
      </p:sp>
      <p:sp>
        <p:nvSpPr>
          <p:cNvPr id="26" name="Shape 20"/>
          <p:cNvSpPr/>
          <p:nvPr/>
        </p:nvSpPr>
        <p:spPr>
          <a:xfrm>
            <a:off x="6035040" y="484632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02920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5806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589520" y="1783080"/>
            <a:ext cx="4114800" cy="4434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3"/>
          <p:cNvSpPr/>
          <p:nvPr/>
        </p:nvSpPr>
        <p:spPr>
          <a:xfrm>
            <a:off x="758952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4"/>
          <p:cNvSpPr/>
          <p:nvPr/>
        </p:nvSpPr>
        <p:spPr>
          <a:xfrm>
            <a:off x="7818120" y="201168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710" y="2160270"/>
            <a:ext cx="297180" cy="2971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953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CloudFront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78181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edge locations worldwide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7955280" y="31089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content at the edge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S3, ALB, EC2, or any HTTP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at the edge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(AWS Shield)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(Lambda@Edge)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81812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818120" y="5852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= served at the edge (fast, cheap). Cache MISS = pulled from origin (slow, expensive).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network in the cloud — the centerpiece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— your isolated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datacenter, defined in software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is your own isolated network inside an AWS Region. You define the CIDR, the subnets, the routing rules, the firewall.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5196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4"/>
          <p:cNvSpPr/>
          <p:nvPr/>
        </p:nvSpPr>
        <p:spPr>
          <a:xfrm>
            <a:off x="425196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5"/>
          <p:cNvSpPr/>
          <p:nvPr/>
        </p:nvSpPr>
        <p:spPr>
          <a:xfrm>
            <a:off x="4434840" y="3017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570" y="3143250"/>
            <a:ext cx="251460" cy="2514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04672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17"/>
          <p:cNvSpPr/>
          <p:nvPr/>
        </p:nvSpPr>
        <p:spPr>
          <a:xfrm>
            <a:off x="804672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Shape 18"/>
          <p:cNvSpPr/>
          <p:nvPr/>
        </p:nvSpPr>
        <p:spPr>
          <a:xfrm>
            <a:off x="8229600" y="3017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3143250"/>
            <a:ext cx="251460" cy="2514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5720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0"/>
          <p:cNvSpPr/>
          <p:nvPr/>
        </p:nvSpPr>
        <p:spPr>
          <a:xfrm>
            <a:off x="45720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1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4972050"/>
            <a:ext cx="251460" cy="2514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25196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3"/>
          <p:cNvSpPr/>
          <p:nvPr/>
        </p:nvSpPr>
        <p:spPr>
          <a:xfrm>
            <a:off x="425196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4"/>
          <p:cNvSpPr/>
          <p:nvPr/>
        </p:nvSpPr>
        <p:spPr>
          <a:xfrm>
            <a:off x="4434840" y="48463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570" y="4972050"/>
            <a:ext cx="251460" cy="25146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804672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26"/>
          <p:cNvSpPr/>
          <p:nvPr/>
        </p:nvSpPr>
        <p:spPr>
          <a:xfrm>
            <a:off x="804672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Shape 27"/>
          <p:cNvSpPr/>
          <p:nvPr/>
        </p:nvSpPr>
        <p:spPr>
          <a:xfrm>
            <a:off x="8229600" y="48463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330" y="4972050"/>
            <a:ext cx="251460" cy="2514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 subnets — what actually makes them different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terminology is misleading. A subnet is "public" or "private" based on its ROUTE TABLE, not anything else.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0.0.0.0/0 → IGW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here can be reached from the internet (if they have public IPs and SGs allow).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here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862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Balancers (ALB)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/ jump hosts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 (so private can egress)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servers (rare in modern setups)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0.0.0.0/0 → NAT GW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00800" y="28346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 reach OUT to internet (via NAT GW) but the internet cannot initiate connections IN.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here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83680" y="38862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— EC2, ECS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— RDS, ElastiCache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workers, queue consumers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doesn't NEED a public IP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— where every packet decision is 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roads lead to the route table." Each subnet has exactly one. Each row is a routing rule.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route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 be reached from the internet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507492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5074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VPC-internal traffic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5074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igw-abc123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→ Internet Gateway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0.0.0.0/0 → IGW row is what makes this subnet "public."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route table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only — internet cannot initiate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2697480"/>
            <a:ext cx="507492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649224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154680"/>
            <a:ext cx="5074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64922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696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VPC-internal traffic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794760"/>
            <a:ext cx="5074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4"/>
          <p:cNvSpPr/>
          <p:nvPr/>
        </p:nvSpPr>
        <p:spPr>
          <a:xfrm>
            <a:off x="64922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696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nat-xyz789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traffic → NAT Gateway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49377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0.0.0.0/0 → NAT GW means private resources CAN reach internet for updates, but the internet cannot reach back.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vs NACLs — the most confused topic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filter traffic. Different layers, different behavior. Knowing the difference is interview gold.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Instance-level firewall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</a:t>
            </a: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(ENIs, RDS, Lambdas).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you allow inbound, the response goes out automatically.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Allow-only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explicit deny rules. Everything not allowed is denied.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reference other SGs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"web tier SG can talk to app tier SG")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 (NACL)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Subnet-level firewall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0080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</a:t>
            </a: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affects every resource in them.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must allow inbound AND outbound separately for the same conversation.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AND deny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explicit deny rules possible. Useful for blacklisting an IP.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order matters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rules evaluated by number, first match wins.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VPCs — Peering vs Transit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more than one VPC, how do you let them talk to each other?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PEERING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1-to-1 connection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VPCs get a private route between them. Simple and cheap.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42900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— no hourly charge, only data transfer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Non-transitive — A↔B and B↔C doesn't give A↔C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past ~3–5 VPCs (mesh complexity)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ranges must NOT overlap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23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network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008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hub. Every VPC and on-prem network attaches once.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42900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thousands of VPCs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— A can reach C through 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hourly cost + per-GB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for hub-spoke topology / multi-account orgs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troubleshooting — the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networking breaks, work top-down. App? DNS? TCP? Routing? Cable? Each tool answers one layer.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host reachable at all? (L3)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traceroute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hops does my packet pass through?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640080" y="23591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23591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 + ping continuously — see packet loss per hop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35915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6172200" y="2359152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6355080" y="23591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23591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lookups — A, AAAA, MX, +trace shows the path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98094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457200" y="2980944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640080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29809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debugging — see headers, TLS handshake, timing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298094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7"/>
          <p:cNvSpPr/>
          <p:nvPr/>
        </p:nvSpPr>
        <p:spPr>
          <a:xfrm>
            <a:off x="6172200" y="2980944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8"/>
          <p:cNvSpPr/>
          <p:nvPr/>
        </p:nvSpPr>
        <p:spPr>
          <a:xfrm>
            <a:off x="6355080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-vz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29809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TCP port even open? Quick reachability test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6027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457200" y="3602736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640080" y="3602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86000" y="36027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sockets does my machine have open right now?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36027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7" name="Shape 35"/>
          <p:cNvSpPr/>
          <p:nvPr/>
        </p:nvSpPr>
        <p:spPr>
          <a:xfrm>
            <a:off x="6172200" y="3602736"/>
            <a:ext cx="54864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6"/>
          <p:cNvSpPr/>
          <p:nvPr/>
        </p:nvSpPr>
        <p:spPr>
          <a:xfrm>
            <a:off x="6355080" y="3602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01000" y="36027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inspect packets at the wire level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1" name="Shape 39"/>
          <p:cNvSpPr/>
          <p:nvPr/>
        </p:nvSpPr>
        <p:spPr>
          <a:xfrm>
            <a:off x="457200" y="5212080"/>
            <a:ext cx="73152" cy="1143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Shape 40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5474970"/>
            <a:ext cx="251460" cy="2514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6304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health check — runs every layer in order: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463040" y="5623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1.1.1.1 &amp;&amp; getent hosts example.com &amp;&amp; curl -sI https://example.com | head -1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&amp; TCP/IP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 vs 4 layers. Every error maps to a layer.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handshake vs fire-and-forget. Pick by job.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vs public. CIDR notation. Subnetting.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→ IPs. Record types. TTL trade-offs. Route 53.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HTTPS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status codes, TLS handshake.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vs L7. AWS ALB / NLB / GWLB / CLB.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Subnets, route tables, IGW, NAT, SGs vs NACLs.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top-down: ping, dig, curl, traceroute, mtr.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3-tier architecture on 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ALB → private app tier → private database. Across two AZs. Everything we learned today, in one architecture.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965960"/>
            <a:ext cx="6858000" cy="4434840"/>
          </a:xfrm>
          <a:prstGeom prst="rect">
            <a:avLst/>
          </a:prstGeom>
          <a:solidFill>
            <a:srgbClr val="1A4F7A"/>
          </a:solidFill>
          <a:ln w="19050">
            <a:solidFill>
              <a:srgbClr val="FF9900"/>
            </a:solidFill>
            <a:prstDash val="dash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10.0.0.0/16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737360"/>
            <a:ext cx="1097280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333756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651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•  Web tier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NAT GW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3291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10.0.1.0/24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794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68580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•  App tier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 (Node.js)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10.0.11.0/24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937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19"/>
          <p:cNvSpPr/>
          <p:nvPr/>
        </p:nvSpPr>
        <p:spPr>
          <a:xfrm>
            <a:off x="68580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•  DB tier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 (Postgres)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10.0.21.0/24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977640" y="2377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us-east-1b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977640" y="2651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4"/>
          <p:cNvSpPr/>
          <p:nvPr/>
        </p:nvSpPr>
        <p:spPr>
          <a:xfrm>
            <a:off x="402336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•  Web tier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02336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NAT GW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023360" y="3291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10.0.2.0/24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977640" y="3794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8"/>
          <p:cNvSpPr/>
          <p:nvPr/>
        </p:nvSpPr>
        <p:spPr>
          <a:xfrm>
            <a:off x="4023360" y="3840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•  App tier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02336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 (Node.js)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02336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10.0.12.0/24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977640" y="4937760"/>
            <a:ext cx="315468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2"/>
          <p:cNvSpPr/>
          <p:nvPr/>
        </p:nvSpPr>
        <p:spPr>
          <a:xfrm>
            <a:off x="402336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•  DB tier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02336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 (Postgres)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10.0.22.0/24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589520" y="1965960"/>
            <a:ext cx="4114800" cy="443484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6"/>
          <p:cNvSpPr/>
          <p:nvPr/>
        </p:nvSpPr>
        <p:spPr>
          <a:xfrm>
            <a:off x="777240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STEPS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772400" y="256032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1" name="Text 38"/>
          <p:cNvSpPr/>
          <p:nvPr/>
        </p:nvSpPr>
        <p:spPr>
          <a:xfrm>
            <a:off x="77724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32104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subnets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3210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VPC; 2 public + 4 private subnets across 2 AZs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772400" y="320040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Text 42"/>
          <p:cNvSpPr/>
          <p:nvPr/>
        </p:nvSpPr>
        <p:spPr>
          <a:xfrm>
            <a:off x="77724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32104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 + NAT GW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IGW; deploy NAT GW in each public subnet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7772400" y="384048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9" name="Text 46"/>
          <p:cNvSpPr/>
          <p:nvPr/>
        </p:nvSpPr>
        <p:spPr>
          <a:xfrm>
            <a:off x="77724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832104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→ IGW. Private → NAT GW. Apply to right subnets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772400" y="448056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3" name="Text 50"/>
          <p:cNvSpPr/>
          <p:nvPr/>
        </p:nvSpPr>
        <p:spPr>
          <a:xfrm>
            <a:off x="77724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832104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32104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SG: :80 from world. App SG: :3000 from Web SG. DB SG: :5432 from App SG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772400" y="512064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7" name="Text 54"/>
          <p:cNvSpPr/>
          <p:nvPr/>
        </p:nvSpPr>
        <p:spPr>
          <a:xfrm>
            <a:off x="777240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8321040" y="5120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EC2 + RDS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3210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in public subnets. EC2 app behind it. RDS in DB subnets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7772400" y="5760720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1" name="Text 58"/>
          <p:cNvSpPr/>
          <p:nvPr/>
        </p:nvSpPr>
        <p:spPr>
          <a:xfrm>
            <a:off x="777240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832104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end-to-end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32104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ALB DNS → app → DB. See the chain work.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6" name="Text 6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875520" y="457200"/>
            <a:ext cx="1828800" cy="1828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82880" y="530352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560320"/>
            <a:ext cx="137160" cy="2011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1"/>
          <p:cNvSpPr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WRAP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822960" y="3840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— networking, AWS, the demo, what to study next.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57200" y="4434840"/>
            <a:ext cx="3703320" cy="169164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5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8348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4709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53035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free-tier VPC tonight. Break it intentionally.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270248" y="4434840"/>
            <a:ext cx="3703320" cy="169164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9"/>
          <p:cNvSpPr/>
          <p:nvPr/>
        </p:nvSpPr>
        <p:spPr>
          <a:xfrm>
            <a:off x="4453128" y="470916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8858" y="483489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93208" y="4709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453128" y="53035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docs + "A Cloud Guru" networking path.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83296" y="4434840"/>
            <a:ext cx="3703320" cy="169164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3"/>
          <p:cNvSpPr/>
          <p:nvPr/>
        </p:nvSpPr>
        <p:spPr>
          <a:xfrm>
            <a:off x="8266176" y="470916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1906" y="483489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06256" y="4709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266176" y="53035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Slack #cloud-track — ask, share, help others.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17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2: Networking in the Cloud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4136</Words>
  <Application>Microsoft Macintosh PowerPoint</Application>
  <PresentationFormat>Widescreen</PresentationFormat>
  <Paragraphs>713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in the Cloud — Session 2</dc:title>
  <dc:subject>PptxGenJS Presentation</dc:subject>
  <dc:creator>KamiLimu Cloud Track</dc:creator>
  <cp:lastModifiedBy>Mark Kibara</cp:lastModifiedBy>
  <cp:revision>2</cp:revision>
  <dcterms:created xsi:type="dcterms:W3CDTF">2026-06-04T14:58:22Z</dcterms:created>
  <dcterms:modified xsi:type="dcterms:W3CDTF">2026-06-04T17:42:51Z</dcterms:modified>
</cp:coreProperties>
</file>