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443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10058400" y="365760"/>
            <a:ext cx="1554480" cy="155448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182880" y="5120640"/>
            <a:ext cx="1097280" cy="10972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>
            <a:alphaModFix amt="12000"/>
          </a:blip>
          <a:stretch>
            <a:fillRect/>
          </a:stretch>
        </p:blipFill>
        <p:spPr>
          <a:xfrm>
            <a:off x="10972800" y="5303520"/>
            <a:ext cx="822960" cy="8229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57200" y="219456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1"/>
          <p:cNvSpPr/>
          <p:nvPr/>
        </p:nvSpPr>
        <p:spPr>
          <a:xfrm>
            <a:off x="82296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822960" y="2606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</a:t>
            </a:r>
            <a:endParaRPr lang="en-US" sz="5400" dirty="0"/>
          </a:p>
        </p:txBody>
      </p:sp>
      <p:sp>
        <p:nvSpPr>
          <p:cNvPr id="8" name="Text 3"/>
          <p:cNvSpPr/>
          <p:nvPr/>
        </p:nvSpPr>
        <p:spPr>
          <a:xfrm>
            <a:off x="822960" y="3429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store for the right job — from SQL to NoSQL, RDS to DynamoDB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6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 •  Mark Kibara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data. OLTP vs OLAP — why not one database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448056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492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databases, the four NoSQL flavors, when to pick which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7"/>
          <p:cNvSpPr/>
          <p:nvPr/>
        </p:nvSpPr>
        <p:spPr>
          <a:xfrm>
            <a:off x="827532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databases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RDS, Aurora, DynamoDB, ElastiCache, analytics with Redshift &amp; Athena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/>
          <p:nvPr/>
        </p:nvSpPr>
        <p:spPr>
          <a:xfrm>
            <a:off x="68580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55448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1520" y="5029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snapshots, Multi-AZ, read replicas — production must-haves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51960" y="40690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8" name="Shape 26"/>
          <p:cNvSpPr/>
          <p:nvPr/>
        </p:nvSpPr>
        <p:spPr>
          <a:xfrm>
            <a:off x="4251960" y="40690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7"/>
          <p:cNvSpPr/>
          <p:nvPr/>
        </p:nvSpPr>
        <p:spPr>
          <a:xfrm>
            <a:off x="448056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34924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scaling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26280" y="5029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database bill comes from. Practical habits.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406908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3" name="Shape 31"/>
          <p:cNvSpPr/>
          <p:nvPr/>
        </p:nvSpPr>
        <p:spPr>
          <a:xfrm>
            <a:off x="8046720" y="4069080"/>
            <a:ext cx="73152" cy="2331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32"/>
          <p:cNvSpPr/>
          <p:nvPr/>
        </p:nvSpPr>
        <p:spPr>
          <a:xfrm>
            <a:off x="8275320" y="43434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144000" y="4389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21040" y="50292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RDS Postgres. Connect from EC2. Snapshot. Multi-AZ.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looks like, and why one database is never enough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shapes of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your data drives every other decision — schema, storage engine, query language.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703320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943100" y="1874520"/>
            <a:ext cx="731520" cy="7315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05740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606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schema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383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columns. Every record has the same fields. Types enforced.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4251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4526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transactions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rows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5486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5800" y="5760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DBs — Postgres, MySQL, RDS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297680" y="169164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4297680" y="1691640"/>
            <a:ext cx="3703320" cy="12344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Shape 18"/>
          <p:cNvSpPr/>
          <p:nvPr/>
        </p:nvSpPr>
        <p:spPr>
          <a:xfrm>
            <a:off x="5783580" y="1874520"/>
            <a:ext cx="731520" cy="73152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05740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480560" y="2606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480560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26280" y="3383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keys and values. Fields can vary between records. Self-describing.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26280" y="4251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26280" y="4526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XML, YAML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logs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4526280" y="5486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26280" y="5760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DBs — DynamoDB, MongoDB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138160" y="1691640"/>
            <a:ext cx="37033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1" name="Shape 27"/>
          <p:cNvSpPr/>
          <p:nvPr/>
        </p:nvSpPr>
        <p:spPr>
          <a:xfrm>
            <a:off x="8138160" y="1691640"/>
            <a:ext cx="37033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Shape 28"/>
          <p:cNvSpPr/>
          <p:nvPr/>
        </p:nvSpPr>
        <p:spPr>
          <a:xfrm>
            <a:off x="9624060" y="187452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940" y="205740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321040" y="2606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8321040" y="3017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366760" y="33832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Blobs — files, media, free-form text. No queryable internal structure.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8366760" y="4251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8366760" y="4526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videos, PDFs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ML datasets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user uploads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8366760" y="5486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8366760" y="5760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— S3, Minio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 — why you need different databases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workload dictates the engine. Optimize for transactions, or for analytics — not both.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Transaction Processing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small, fast operations. The live app talking to the DB.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3375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tiny reads and writes per second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latency required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Row-oriented storage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matter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order placement, chat messages, session state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5623560"/>
            <a:ext cx="5120640" cy="4572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685800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AWS: RDS, Aurora, DynamoDB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223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Analytical Processing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40080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big queries across huge historical data.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492240" y="33375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over millions or billions of rows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in seconds to minutes is fine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Column-oriented storage — read fewer bytes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loads, not live transactions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revenue by region, churn analysis, dashboards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00800" y="5623560"/>
            <a:ext cx="5120640" cy="4572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3"/>
          <p:cNvSpPr/>
          <p:nvPr/>
        </p:nvSpPr>
        <p:spPr>
          <a:xfrm>
            <a:off x="6400800" y="5623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AWS: Redshift, Athena, EMR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that defines your data architecture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— the classic default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years old. Still the right answer more often than not.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12344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1234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777240" y="1874520"/>
            <a:ext cx="868680" cy="8686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91690"/>
            <a:ext cx="434340" cy="4343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0" y="1783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tables. Tables link via keys. Queries in SQL.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828800" y="22860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fixed and enforced. Foreign keys tie tables together. SQL lets you join, filter, aggregate declaratively.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— the four guarantees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" y="3520440"/>
            <a:ext cx="277977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457200" y="3520440"/>
            <a:ext cx="73152" cy="2743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640080" y="3794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400" dirty="0"/>
          </a:p>
        </p:txBody>
      </p:sp>
      <p:sp>
        <p:nvSpPr>
          <p:cNvPr id="18" name="Text 15"/>
          <p:cNvSpPr/>
          <p:nvPr/>
        </p:nvSpPr>
        <p:spPr>
          <a:xfrm>
            <a:off x="1371600" y="402336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5800" y="48006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 nothing. Transfer either debits and credits, or neither.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328416" y="3520440"/>
            <a:ext cx="277977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8"/>
          <p:cNvSpPr/>
          <p:nvPr/>
        </p:nvSpPr>
        <p:spPr>
          <a:xfrm>
            <a:off x="3328416" y="3520440"/>
            <a:ext cx="73152" cy="274320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19"/>
          <p:cNvSpPr/>
          <p:nvPr/>
        </p:nvSpPr>
        <p:spPr>
          <a:xfrm>
            <a:off x="3511296" y="3794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400" dirty="0"/>
          </a:p>
        </p:txBody>
      </p:sp>
      <p:sp>
        <p:nvSpPr>
          <p:cNvPr id="23" name="Text 20"/>
          <p:cNvSpPr/>
          <p:nvPr/>
        </p:nvSpPr>
        <p:spPr>
          <a:xfrm>
            <a:off x="4242816" y="402336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557016" y="48006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enforced. Balance can't go negative if constraints say so.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99632" y="3520440"/>
            <a:ext cx="277977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3"/>
          <p:cNvSpPr/>
          <p:nvPr/>
        </p:nvSpPr>
        <p:spPr>
          <a:xfrm>
            <a:off x="6199632" y="3520440"/>
            <a:ext cx="73152" cy="274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4"/>
          <p:cNvSpPr/>
          <p:nvPr/>
        </p:nvSpPr>
        <p:spPr>
          <a:xfrm>
            <a:off x="6382512" y="3794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400" dirty="0"/>
          </a:p>
        </p:txBody>
      </p:sp>
      <p:sp>
        <p:nvSpPr>
          <p:cNvPr id="28" name="Text 25"/>
          <p:cNvSpPr/>
          <p:nvPr/>
        </p:nvSpPr>
        <p:spPr>
          <a:xfrm>
            <a:off x="7114032" y="402336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428232" y="48006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transactions don't corrupt each other's view.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070848" y="3520440"/>
            <a:ext cx="2779776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1" name="Shape 28"/>
          <p:cNvSpPr/>
          <p:nvPr/>
        </p:nvSpPr>
        <p:spPr>
          <a:xfrm>
            <a:off x="9070848" y="3520440"/>
            <a:ext cx="73152" cy="2743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2" name="Text 29"/>
          <p:cNvSpPr/>
          <p:nvPr/>
        </p:nvSpPr>
        <p:spPr>
          <a:xfrm>
            <a:off x="9253728" y="3794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5400" dirty="0"/>
          </a:p>
        </p:txBody>
      </p:sp>
      <p:sp>
        <p:nvSpPr>
          <p:cNvPr id="33" name="Text 30"/>
          <p:cNvSpPr/>
          <p:nvPr/>
        </p:nvSpPr>
        <p:spPr>
          <a:xfrm>
            <a:off x="9985248" y="402336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299448" y="480060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committed, it survives crashes and power loss.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flavors — pick the one that fits your access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"NoSQL" is not one thing. It's four families of very different databases.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77977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73152" cy="45720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435608" y="20116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348" y="221742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97180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5800" y="347472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lookups by a unique key. Extremely fast. No relationships.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" y="49377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" y="52120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stores, shopping carts, feature flags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" y="5806440"/>
            <a:ext cx="2322576" cy="3657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4"/>
          <p:cNvSpPr/>
          <p:nvPr/>
        </p:nvSpPr>
        <p:spPr>
          <a:xfrm>
            <a:off x="685800" y="5806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DynamoDB, Redis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28416" y="1691640"/>
            <a:ext cx="277977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3328416" y="1691640"/>
            <a:ext cx="73152" cy="457200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Shape 17"/>
          <p:cNvSpPr/>
          <p:nvPr/>
        </p:nvSpPr>
        <p:spPr>
          <a:xfrm>
            <a:off x="4306824" y="2011680"/>
            <a:ext cx="822960" cy="82296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221742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11296" y="297180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3557016" y="347472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JSON documents. Flexible schema, queryable inside the doc.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3557016" y="49377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57016" y="52120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profiles, product catalogs, content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557016" y="5806440"/>
            <a:ext cx="2322576" cy="3657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3"/>
          <p:cNvSpPr/>
          <p:nvPr/>
        </p:nvSpPr>
        <p:spPr>
          <a:xfrm>
            <a:off x="3557016" y="5806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MongoDB, DocumentDB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199632" y="1691640"/>
            <a:ext cx="277977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5"/>
          <p:cNvSpPr/>
          <p:nvPr/>
        </p:nvSpPr>
        <p:spPr>
          <a:xfrm>
            <a:off x="6199632" y="1691640"/>
            <a:ext cx="73152" cy="4572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Shape 26"/>
          <p:cNvSpPr/>
          <p:nvPr/>
        </p:nvSpPr>
        <p:spPr>
          <a:xfrm>
            <a:off x="7178040" y="201168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217420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382512" y="297180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Wide-column</a:t>
            </a:r>
            <a:endParaRPr lang="en-US" sz="1700" dirty="0"/>
          </a:p>
        </p:txBody>
      </p:sp>
      <p:sp>
        <p:nvSpPr>
          <p:cNvPr id="33" name="Text 28"/>
          <p:cNvSpPr/>
          <p:nvPr/>
        </p:nvSpPr>
        <p:spPr>
          <a:xfrm>
            <a:off x="6428232" y="347472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keys with dynamic columns. Optimized for huge time-series data.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428232" y="49377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6428232" y="52120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metrics, event logs, sensor data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428232" y="5806440"/>
            <a:ext cx="2322576" cy="3657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7" name="Text 32"/>
          <p:cNvSpPr/>
          <p:nvPr/>
        </p:nvSpPr>
        <p:spPr>
          <a:xfrm>
            <a:off x="6428232" y="5806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Cassandra, HBase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9070848" y="1691640"/>
            <a:ext cx="2779776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9" name="Shape 34"/>
          <p:cNvSpPr/>
          <p:nvPr/>
        </p:nvSpPr>
        <p:spPr>
          <a:xfrm>
            <a:off x="9070848" y="1691640"/>
            <a:ext cx="73152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0" name="Shape 35"/>
          <p:cNvSpPr/>
          <p:nvPr/>
        </p:nvSpPr>
        <p:spPr>
          <a:xfrm>
            <a:off x="10049256" y="2011680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4996" y="2217420"/>
            <a:ext cx="411480" cy="41148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9253728" y="297180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700" dirty="0"/>
          </a:p>
        </p:txBody>
      </p:sp>
      <p:sp>
        <p:nvSpPr>
          <p:cNvPr id="43" name="Text 37"/>
          <p:cNvSpPr/>
          <p:nvPr/>
        </p:nvSpPr>
        <p:spPr>
          <a:xfrm>
            <a:off x="9299448" y="347472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and edges. Queries traverse relationships in one hop.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9299448" y="493776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9299448" y="521208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networks, fraud detection, recommendations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9299448" y="5806440"/>
            <a:ext cx="2322576" cy="3657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7" name="Text 41"/>
          <p:cNvSpPr/>
          <p:nvPr/>
        </p:nvSpPr>
        <p:spPr>
          <a:xfrm>
            <a:off x="9299448" y="580644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Neptune, Neo4j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actually choose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532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3566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SQL WHEN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1732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structure &amp; relationships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2377440"/>
            <a:ext cx="5120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JOINs across tables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must be ACID (banking, orders)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stable and well-understood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patterns will evolve — ad-hoc reporting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is under ~terabyte range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371600"/>
            <a:ext cx="55321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172200" y="1371600"/>
            <a:ext cx="73152" cy="356616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3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NOSQL WHEN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13232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speed, or flexibility trump joins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400800" y="2377440"/>
            <a:ext cx="5120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patterns are simple and known upfront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throughput or global scale needed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fluid — different records, different fields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Single-digit millisecond latency required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millions of writes per second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2" name="Shape 18"/>
          <p:cNvSpPr/>
          <p:nvPr/>
        </p:nvSpPr>
        <p:spPr>
          <a:xfrm>
            <a:off x="457200" y="507492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Shape 19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9496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50876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truth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508760" y="5532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apps use BOTH. Postgres for the transactional core, DynamoDB for hot lookups, Redis for caching, S3 for files. "Polyglot persistence" isn't a buzzword — it's what production looks like.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Database Services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map — pick the right managed database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• RELATIONAL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and Aurora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7602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3080" y="1965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handles patching, backups, HA setup, replication. You bring the schema and the queries.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43200"/>
            <a:ext cx="55321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73152" cy="3520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6858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580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Service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engines, all managed the same way: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40233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 •  MySQL  •  MariaDB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  •  SQL Server  •  Aurora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48920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backups, snapshots, patching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standby with automatic failover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read replicas for scaling reads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72200" y="2743200"/>
            <a:ext cx="55321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8"/>
          <p:cNvSpPr/>
          <p:nvPr/>
        </p:nvSpPr>
        <p:spPr>
          <a:xfrm>
            <a:off x="6172200" y="2743200"/>
            <a:ext cx="73152" cy="35204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Text 19"/>
          <p:cNvSpPr/>
          <p:nvPr/>
        </p:nvSpPr>
        <p:spPr>
          <a:xfrm>
            <a:off x="64008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40080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RDBMS by AWS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0" y="36118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or MySQL compatible. Storage layer re-engineered for cloud.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92240" y="425196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MySQL / 3x Postgres throughput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 read replicas, milliseconds behind primary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auto-scales from 10 GB to 128 TB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Serverless v2 — pay per use, autoscales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more than plain RDS — worth it at scale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• NOSQL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7602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flagship NoSQL database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3080" y="19659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+ document. Fully serverless. Single-digit-millisecond latency at any scale. Runs Amazon.com's shopping cart.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743200"/>
            <a:ext cx="55321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73152" cy="3520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6858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brilliant at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33375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millisecond reads at any scale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manage — truly serverless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tables — multi-region replication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or provisioned capacity modes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for auto-expiring records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sessions, IoT, gaming leaderboards, high-throughput APIs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72200" y="2743200"/>
            <a:ext cx="55321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172200" y="2743200"/>
            <a:ext cx="73152" cy="3520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6"/>
          <p:cNvSpPr/>
          <p:nvPr/>
        </p:nvSpPr>
        <p:spPr>
          <a:xfrm>
            <a:off x="640080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hurts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92240" y="33375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design for your access patterns UPFRONT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JOINs. No ad-hoc queries.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queries require secondary indexes ($$)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partition key = hot partition = 429 errors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surprises if you forget to set capacity limits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Terrible fit for: reporting, one-off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• CACHING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— put a fast layer in front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expensive and (relatively) slow. Cache hot data in memory. Cut load 10-100x.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2286000" cy="128016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4231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EC2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66360" y="2240280"/>
            <a:ext cx="2286000" cy="1280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4231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418320" y="2240280"/>
            <a:ext cx="2286000" cy="128016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24231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83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(RDS)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0" y="2743200"/>
            <a:ext cx="196596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19" name="Shape 14"/>
          <p:cNvSpPr/>
          <p:nvPr/>
        </p:nvSpPr>
        <p:spPr>
          <a:xfrm>
            <a:off x="7452360" y="2743200"/>
            <a:ext cx="196596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dash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5"/>
          <p:cNvSpPr/>
          <p:nvPr/>
        </p:nvSpPr>
        <p:spPr>
          <a:xfrm>
            <a:off x="3200400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cache first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452360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cache miss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416052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3" name="Shape 18"/>
          <p:cNvSpPr/>
          <p:nvPr/>
        </p:nvSpPr>
        <p:spPr>
          <a:xfrm>
            <a:off x="457200" y="4160520"/>
            <a:ext cx="73152" cy="21031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19"/>
          <p:cNvSpPr/>
          <p:nvPr/>
        </p:nvSpPr>
        <p:spPr>
          <a:xfrm>
            <a:off x="68580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85800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 structures: lists, sets, sorted sets, streams. Persistence. Pub/sub. Default choice for anything beyond simple cache.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172200" y="416052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6172200" y="4160520"/>
            <a:ext cx="73152" cy="21031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3"/>
          <p:cNvSpPr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Memcached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00800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in-memory key-value. Multi-threaded, dead simple. Use only if you truly need Memcached's threading — otherwise Redis wins.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•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and Athena — analyzing data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let you run SQL on huge datasets. Different sweet spots for how the data lives.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73152" cy="4434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1259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08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warehouse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Petabyte-scale columnar database. Load data in, run analytical SQL over huge history.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352044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 — reads only needed columns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 query execution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Postgres-compatible SQL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provision &amp; pay for a cluster (or Serverless)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BI dashboards, executive reporting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5321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4"/>
          <p:cNvSpPr/>
          <p:nvPr/>
        </p:nvSpPr>
        <p:spPr>
          <a:xfrm>
            <a:off x="6172200" y="1783080"/>
            <a:ext cx="73152" cy="443484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212598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+ S3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223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lake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640080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directly over data in S3. Nothing to provision, pay per query.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92240" y="352044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as files in S3 (CSV, Parquet, JSON)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per TB of data scanned — Parquet cuts this 10x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cluster, no cost when idle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for: log analysis, ad-hoc data exploration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Redshift for repeated queries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" cy="1463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Cost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databases production-worthy — and affordable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01200" y="2468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Multi-AZ, and Read Replicas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concerns. Three separate features. Beginners confuse them constantly.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4526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897380" y="2011680"/>
            <a:ext cx="822960" cy="8229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21742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926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&amp; Snapshots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from disaster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6576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backups (retained 1–35 days). Manual snapshots (retained until deleted). Restores create a NEW instance — takes minutes to hours.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5257800"/>
            <a:ext cx="3246120" cy="8686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3"/>
          <p:cNvSpPr/>
          <p:nvPr/>
        </p:nvSpPr>
        <p:spPr>
          <a:xfrm>
            <a:off x="777240" y="5257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accidental DROP TABLE, corrupt data — go back in time.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9768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4297680" y="1737360"/>
            <a:ext cx="73152" cy="452628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5737860" y="2011680"/>
            <a:ext cx="822960" cy="82296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1742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80560" y="2926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Standby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480560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from AZ failure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26280" y="36576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standby DB in a second AZ. Automatic failover in ~60 seconds. Standby is invisible — you can't read from it.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526280" y="5257800"/>
            <a:ext cx="3246120" cy="8686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1"/>
          <p:cNvSpPr/>
          <p:nvPr/>
        </p:nvSpPr>
        <p:spPr>
          <a:xfrm>
            <a:off x="4617720" y="5257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outage, hardware failure, planned maintenance — app barely notices.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138160" y="1737360"/>
            <a:ext cx="37033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23"/>
          <p:cNvSpPr/>
          <p:nvPr/>
        </p:nvSpPr>
        <p:spPr>
          <a:xfrm>
            <a:off x="8138160" y="1737360"/>
            <a:ext cx="73152" cy="4526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Shape 24"/>
          <p:cNvSpPr/>
          <p:nvPr/>
        </p:nvSpPr>
        <p:spPr>
          <a:xfrm>
            <a:off x="9578340" y="201168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2217420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321040" y="2926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321040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reads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366760" y="365760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copies you CAN read from. Up to 5 for RDS, 15 for Aurora. Slight replication lag (seconds).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366760" y="5257800"/>
            <a:ext cx="3246120" cy="8686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4" name="Text 29"/>
          <p:cNvSpPr/>
          <p:nvPr/>
        </p:nvSpPr>
        <p:spPr>
          <a:xfrm>
            <a:off x="8458200" y="5257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queries, analytics, offloading heavy reads from the primary.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scaling — where databases eat your bill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321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4800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goes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1488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Over-provisioned instance sizes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running db.r5.4xlarge when db.t3.medium would do.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on dev environments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doubles the cost, dev doesn't need HA.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left running 24/7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dev/staging on weekends and nights.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Cross-AZ data transfer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 in AZ-a talking to DB in AZ-b, per-GB charges.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provisioned + no auto-scaling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paying peak capacity 24/7.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553212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6172200" y="1417320"/>
            <a:ext cx="73152" cy="4800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keep bills sane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400800" y="21488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— t3.micro / t3.medium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scale up when metrics say so.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dev databases OFF at night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Lambda + EventBridge to schedule it.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Instances for prod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 or 3-year commit saves 40–72%.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Serverless / DynamoDB on-demand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spiky, unpredictable workloads.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hot reads 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ElastiCache cuts DB load and instance-size costs.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7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83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7602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shapes of data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3444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semi-, unstructured. Shape drives everything.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429768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17602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vs OLAP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07492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transactions vs analytics. Different engines.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141732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6"/>
          <p:cNvSpPr/>
          <p:nvPr/>
        </p:nvSpPr>
        <p:spPr>
          <a:xfrm>
            <a:off x="8138160" y="141732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176022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1540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when relationships matter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915400" y="187452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ACID, JOINs, structured schema — RDS or Aurora.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1"/>
          <p:cNvSpPr/>
          <p:nvPr/>
        </p:nvSpPr>
        <p:spPr>
          <a:xfrm>
            <a:off x="45720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Shape 22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0861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3444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when scale trumps flexibility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123444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Key-value, document, wide-column, graph.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29768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Shape 26"/>
          <p:cNvSpPr/>
          <p:nvPr/>
        </p:nvSpPr>
        <p:spPr>
          <a:xfrm>
            <a:off x="429768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Shape 27"/>
          <p:cNvSpPr/>
          <p:nvPr/>
        </p:nvSpPr>
        <p:spPr>
          <a:xfrm>
            <a:off x="448056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860" y="3086100"/>
            <a:ext cx="228600" cy="228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7492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hot stuff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507492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in front of RDS cuts load 10–100x.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138160" y="274320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8" name="Shape 31"/>
          <p:cNvSpPr/>
          <p:nvPr/>
        </p:nvSpPr>
        <p:spPr>
          <a:xfrm>
            <a:off x="8138160" y="274320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Shape 32"/>
          <p:cNvSpPr/>
          <p:nvPr/>
        </p:nvSpPr>
        <p:spPr>
          <a:xfrm>
            <a:off x="8321040" y="297180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340" y="308610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915400" y="29077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+ S3/Athena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8915400" y="320040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vs data lakes. Both use SQL.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5720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4" name="Shape 36"/>
          <p:cNvSpPr/>
          <p:nvPr/>
        </p:nvSpPr>
        <p:spPr>
          <a:xfrm>
            <a:off x="45720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5" name="Shape 37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" y="4411980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23444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Multi-AZ, replicas, snapshots</a:t>
            </a:r>
            <a:endParaRPr lang="en-US" sz="1250" dirty="0"/>
          </a:p>
        </p:txBody>
      </p:sp>
      <p:sp>
        <p:nvSpPr>
          <p:cNvPr id="48" name="Text 39"/>
          <p:cNvSpPr/>
          <p:nvPr/>
        </p:nvSpPr>
        <p:spPr>
          <a:xfrm>
            <a:off x="123444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features. Learn each.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4297680" y="4069080"/>
            <a:ext cx="37033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50" name="Shape 41"/>
          <p:cNvSpPr/>
          <p:nvPr/>
        </p:nvSpPr>
        <p:spPr>
          <a:xfrm>
            <a:off x="4297680" y="4069080"/>
            <a:ext cx="73152" cy="1207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1" name="Shape 42"/>
          <p:cNvSpPr/>
          <p:nvPr/>
        </p:nvSpPr>
        <p:spPr>
          <a:xfrm>
            <a:off x="4480560" y="429768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4860" y="4411980"/>
            <a:ext cx="228600" cy="22860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74920" y="42336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eat bills</a:t>
            </a:r>
            <a:endParaRPr lang="en-US" sz="1250" dirty="0"/>
          </a:p>
        </p:txBody>
      </p:sp>
      <p:sp>
        <p:nvSpPr>
          <p:cNvPr id="54" name="Text 44"/>
          <p:cNvSpPr/>
          <p:nvPr/>
        </p:nvSpPr>
        <p:spPr>
          <a:xfrm>
            <a:off x="5074920" y="4526280"/>
            <a:ext cx="2834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Right-size, stop dev at night, cache reads.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production-shaped Postgres on AWS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today's session, wired up on your account. Screenshots in the cohort channel by next session.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241280" y="777240"/>
            <a:ext cx="1280160" cy="12801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0972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9" name="Shape 6"/>
          <p:cNvSpPr/>
          <p:nvPr/>
        </p:nvSpPr>
        <p:spPr>
          <a:xfrm>
            <a:off x="10789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7"/>
          <p:cNvSpPr/>
          <p:nvPr/>
        </p:nvSpPr>
        <p:spPr>
          <a:xfrm>
            <a:off x="10789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RDS Postgres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db.t3.micro, private subnet, SG allowing 5432 from your EC2 only.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3172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295351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2"/>
          <p:cNvSpPr/>
          <p:nvPr/>
        </p:nvSpPr>
        <p:spPr>
          <a:xfrm>
            <a:off x="295351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231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from EC2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42316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to EC2, install psql, connect using the RDS endpoint.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0624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9" name="Shape 16"/>
          <p:cNvSpPr/>
          <p:nvPr/>
        </p:nvSpPr>
        <p:spPr>
          <a:xfrm>
            <a:off x="482803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Text 17"/>
          <p:cNvSpPr/>
          <p:nvPr/>
        </p:nvSpPr>
        <p:spPr>
          <a:xfrm>
            <a:off x="482803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2976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schema &amp; data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29768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TABLE, INSERT a few rows. Verify with SELECT.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8076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4" name="Shape 21"/>
          <p:cNvSpPr/>
          <p:nvPr/>
        </p:nvSpPr>
        <p:spPr>
          <a:xfrm>
            <a:off x="670255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2"/>
          <p:cNvSpPr/>
          <p:nvPr/>
        </p:nvSpPr>
        <p:spPr>
          <a:xfrm>
            <a:off x="670255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1722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snapshot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7220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snapshot from the console. Note the ARN — you'll submit it.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95528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9" name="Shape 26"/>
          <p:cNvSpPr/>
          <p:nvPr/>
        </p:nvSpPr>
        <p:spPr>
          <a:xfrm>
            <a:off x="857707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0" name="Text 27"/>
          <p:cNvSpPr/>
          <p:nvPr/>
        </p:nvSpPr>
        <p:spPr>
          <a:xfrm>
            <a:off x="857707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0467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Multi-AZ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04672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the instance to Multi-AZ. Observe the failover behavior.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9829800" y="2194560"/>
            <a:ext cx="1828800" cy="233172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4" name="Shape 31"/>
          <p:cNvSpPr/>
          <p:nvPr/>
        </p:nvSpPr>
        <p:spPr>
          <a:xfrm>
            <a:off x="10451592" y="237744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Text 32"/>
          <p:cNvSpPr/>
          <p:nvPr/>
        </p:nvSpPr>
        <p:spPr>
          <a:xfrm>
            <a:off x="1045159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9212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cleanly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921240" y="34747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again, then delete. Watch your bill stay zero.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57200" y="4709160"/>
            <a:ext cx="11247120" cy="1600200"/>
          </a:xfrm>
          <a:prstGeom prst="rect">
            <a:avLst/>
          </a:prstGeom>
          <a:solidFill>
            <a:srgbClr val="1A4F7A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6"/>
          <p:cNvSpPr/>
          <p:nvPr/>
        </p:nvSpPr>
        <p:spPr>
          <a:xfrm>
            <a:off x="685800" y="4800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SUBMIT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8580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8580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instance running, successful psql connection, sample SELECT output, snapshot listing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43484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ARN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443484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ARN of your manual snapshot — this proves you didn't just script the console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18388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8183880" y="5440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sentences: what would you do differently in production, and why?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Session 5. Delete the DB when done — otherwise the bill won't stop.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058400" y="45720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274320" y="5029200"/>
            <a:ext cx="1280160" cy="12801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2286000"/>
            <a:ext cx="137160" cy="2377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1"/>
          <p:cNvSpPr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2296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7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Postgres connection strings that wouldn't work, your "why is this slow" queries, everything.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5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KamiLimu Cohort 10  •  Cloud Engineering Track  •  Session 5: Data &amp; Databases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2216</Words>
  <Application>Microsoft Macintosh PowerPoint</Application>
  <PresentationFormat>Widescreen</PresentationFormat>
  <Paragraphs>350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&amp; Databases — Session 4</dc:title>
  <dc:subject>PptxGenJS Presentation</dc:subject>
  <dc:creator>KamiLimu Cloud Track</dc:creator>
  <cp:lastModifiedBy>Mark Kibara</cp:lastModifiedBy>
  <cp:revision>2</cp:revision>
  <dcterms:created xsi:type="dcterms:W3CDTF">2026-07-12T11:41:22Z</dcterms:created>
  <dcterms:modified xsi:type="dcterms:W3CDTF">2026-07-12T17:37:32Z</dcterms:modified>
</cp:coreProperties>
</file>