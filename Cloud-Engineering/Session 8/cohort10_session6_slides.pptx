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43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0058400" y="365760"/>
            <a:ext cx="1554480" cy="15544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182880" y="5120640"/>
            <a:ext cx="1097280" cy="1097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10972800" y="530352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5200" dirty="0"/>
          </a:p>
        </p:txBody>
      </p:sp>
      <p:sp>
        <p:nvSpPr>
          <p:cNvPr id="8" name="Text 3"/>
          <p:cNvSpPr/>
          <p:nvPr/>
        </p:nvSpPr>
        <p:spPr>
          <a:xfrm>
            <a:off x="82296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traces — and knowing what's actually happening in your cloud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6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 •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vs observability, the three pillars, RED &amp; USE, SLI/SLO/SLA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448056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(Elasticsearch, Logstash, Kibana), TICK, and the modern LGTM stack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827532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vendor-neutral standard — instrument once, ship anywhere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68580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55448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observability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CloudWatch, X-Ray, Managed Prometheus &amp; Grafana, ADOT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5196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6"/>
          <p:cNvSpPr/>
          <p:nvPr/>
        </p:nvSpPr>
        <p:spPr>
          <a:xfrm>
            <a:off x="425196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448056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4924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work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2628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hygiene, common pitfalls, what kills observability programs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31"/>
          <p:cNvSpPr/>
          <p:nvPr/>
        </p:nvSpPr>
        <p:spPr>
          <a:xfrm>
            <a:off x="804672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827532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14400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2104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an app end-to-end — metrics, logs, alarms on AWS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behind everything else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vs Observability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terms get used interchangeably. They shouldn't be.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unknowns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pre-defined failure modes. Dashboards for the things you know can break.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611880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dashboards and alerts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"Is CPU high? Are we serving 2xx?"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well-understood, static systems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apart on novel failure modes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223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unknowns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40080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able to ask arbitrary questions about system state — without shipping new code.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611880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high-cardinality telemetry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"Why did user X see a 500 at 3pm?"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microservices and distributed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more — data volume is the trade-off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— Metrics, Logs, Traces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telemetry. Each answers different questions. You need all three.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897380" y="20116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21742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79476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numeric measurements — CPU %, requests/sec, error rate. Cheap to store, fast to query, aggregated.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777240" y="5486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" y="5760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much? How fast? How often?"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97680" y="173736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4297680" y="1737360"/>
            <a:ext cx="73152" cy="457200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5737860" y="2011680"/>
            <a:ext cx="822960" cy="82296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1742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8056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48056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26280" y="379476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text records — "User X did Y at time T." Rich detail, expensive to store, hard to aggregate.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2628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2"/>
          <p:cNvSpPr/>
          <p:nvPr/>
        </p:nvSpPr>
        <p:spPr>
          <a:xfrm>
            <a:off x="4617720" y="5486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617720" y="5760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exactly happened, and when?"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38160" y="173736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5"/>
          <p:cNvSpPr/>
          <p:nvPr/>
        </p:nvSpPr>
        <p:spPr>
          <a:xfrm>
            <a:off x="8138160" y="1737360"/>
            <a:ext cx="73152" cy="4572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Shape 26"/>
          <p:cNvSpPr/>
          <p:nvPr/>
        </p:nvSpPr>
        <p:spPr>
          <a:xfrm>
            <a:off x="9578340" y="201168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221742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321040" y="2971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832104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366760" y="379476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journey of a single request across services. Spans + parent/child links show where time went.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36676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1"/>
          <p:cNvSpPr/>
          <p:nvPr/>
        </p:nvSpPr>
        <p:spPr>
          <a:xfrm>
            <a:off x="8458200" y="5486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458200" y="5760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was this request slow?"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and USE — two frameworks for "what to measure"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methodologies. RED for services (request-driven). USE for resources (CPU, disk, memory).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services — what your API is doing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880360"/>
            <a:ext cx="51206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69164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second. How much traffic are you handling?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51206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6916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requests. 4xx client errors, 5xx server errors.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983480"/>
            <a:ext cx="51206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169164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distribution. p50, p95, p99 — not just averages.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73736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5" name="Shape 23"/>
          <p:cNvSpPr/>
          <p:nvPr/>
        </p:nvSpPr>
        <p:spPr>
          <a:xfrm>
            <a:off x="6172200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4"/>
          <p:cNvSpPr/>
          <p:nvPr/>
        </p:nvSpPr>
        <p:spPr>
          <a:xfrm>
            <a:off x="640080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resources — what your CPU / disk / memory is doing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2880360"/>
            <a:ext cx="51206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6492240" y="288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40664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time the resource is busy. e.g. CPU at 80%.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931920"/>
            <a:ext cx="51206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74066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0664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extra work queued. e.g. run-queue length, memory pressure.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4983480"/>
            <a:ext cx="51206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7" name="Text 35"/>
          <p:cNvSpPr/>
          <p:nvPr/>
        </p:nvSpPr>
        <p:spPr>
          <a:xfrm>
            <a:off x="6492240" y="49834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740664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0664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events on the resource. e.g. disk I/O errors, dropped packets.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SLI, SLO, SLA — the language of reliability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 people constantly mix up. Getting them right is the difference between an amateur and a real SRE.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943100" y="201168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1945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880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Indicator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MEASURE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4114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metric. "% of homepage requests served in under 200ms." Something you can query in Prometheus right now.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685800" y="5440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99.95% of requests &lt;200ms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9768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4297680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19456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80560" y="2880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448056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Objective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480560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COMMIT to internally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26280" y="4114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for the SLI. Set by your team. Missing it triggers engineering effort — not lawyers.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52628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3"/>
          <p:cNvSpPr/>
          <p:nvPr/>
        </p:nvSpPr>
        <p:spPr>
          <a:xfrm>
            <a:off x="4526280" y="5440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99.9% of requests &lt;200ms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3816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5"/>
          <p:cNvSpPr/>
          <p:nvPr/>
        </p:nvSpPr>
        <p:spPr>
          <a:xfrm>
            <a:off x="8138160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Shape 26"/>
          <p:cNvSpPr/>
          <p:nvPr/>
        </p:nvSpPr>
        <p:spPr>
          <a:xfrm>
            <a:off x="9624060" y="20116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940" y="2194560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321040" y="2880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2800" dirty="0"/>
          </a:p>
        </p:txBody>
      </p:sp>
      <p:sp>
        <p:nvSpPr>
          <p:cNvPr id="33" name="Text 28"/>
          <p:cNvSpPr/>
          <p:nvPr/>
        </p:nvSpPr>
        <p:spPr>
          <a:xfrm>
            <a:off x="832104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321040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PROMISE customers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366760" y="41148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with your customers. Missing it means refunds, credits, or lawsuits. Always looser than the SLO.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366760" y="5440680"/>
            <a:ext cx="324612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7" name="Text 32"/>
          <p:cNvSpPr/>
          <p:nvPr/>
        </p:nvSpPr>
        <p:spPr>
          <a:xfrm>
            <a:off x="8366760" y="5440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Contract: 99.5% or we refund 10%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ELK, TICK, LGTM — pick your poison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— Elasticsearch, Logstash, Kibana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 of the log-analytics stacks. Log-heavy by design — think full-text search over billions of log lines.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1280160" y="1920240"/>
            <a:ext cx="2194560" cy="868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031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6596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2359152"/>
            <a:ext cx="27432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3749040" y="1920240"/>
            <a:ext cx="219456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1031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43484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+ transform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0" y="2359152"/>
            <a:ext cx="27432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5"/>
          <p:cNvSpPr/>
          <p:nvPr/>
        </p:nvSpPr>
        <p:spPr>
          <a:xfrm>
            <a:off x="6217920" y="1920240"/>
            <a:ext cx="2194560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0312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90372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index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412480" y="2359152"/>
            <a:ext cx="27432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19"/>
          <p:cNvSpPr/>
          <p:nvPr/>
        </p:nvSpPr>
        <p:spPr>
          <a:xfrm>
            <a:off x="8686800" y="1920240"/>
            <a:ext cx="2194560" cy="8686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10312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260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37260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+ visualize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108960"/>
            <a:ext cx="370332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3"/>
          <p:cNvSpPr/>
          <p:nvPr/>
        </p:nvSpPr>
        <p:spPr>
          <a:xfrm>
            <a:off x="457200" y="3108960"/>
            <a:ext cx="73152" cy="3154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4"/>
          <p:cNvSpPr/>
          <p:nvPr/>
        </p:nvSpPr>
        <p:spPr>
          <a:xfrm>
            <a:off x="64008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40080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Storage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85800" y="40233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search engine + JSON document store. Where all your logs actually live. Also great for full-text search on non-log data.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297680" y="3108960"/>
            <a:ext cx="370332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28"/>
          <p:cNvSpPr/>
          <p:nvPr/>
        </p:nvSpPr>
        <p:spPr>
          <a:xfrm>
            <a:off x="4297680" y="3108960"/>
            <a:ext cx="73152" cy="3154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29"/>
          <p:cNvSpPr/>
          <p:nvPr/>
        </p:nvSpPr>
        <p:spPr>
          <a:xfrm>
            <a:off x="448056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4480560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526280" y="40233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logs from many sources, transforms them (parse JSON, extract fields, geo-enrich), forwards to Elasticsearch. Heavy — most teams use Beats instead.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8138160" y="3108960"/>
            <a:ext cx="370332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3"/>
          <p:cNvSpPr/>
          <p:nvPr/>
        </p:nvSpPr>
        <p:spPr>
          <a:xfrm>
            <a:off x="8138160" y="3108960"/>
            <a:ext cx="73152" cy="31546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Text 34"/>
          <p:cNvSpPr/>
          <p:nvPr/>
        </p:nvSpPr>
        <p:spPr>
          <a:xfrm>
            <a:off x="832104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8321040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UI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8366760" y="40233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frontend. Search logs, build dashboards, define alerts. Highly polished. Free tier is generous.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— Telegraf, InfluxDB, Chronograf, Kapacitor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time-series-first stack from InfluxData. Built for metrics — especially IoT, sensors, and high-volume numeric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4140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collector. 200+ input plugins — CPU, Kafka, Postgres, MQTT, you name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9272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3"/>
          <p:cNvSpPr/>
          <p:nvPr/>
        </p:nvSpPr>
        <p:spPr>
          <a:xfrm>
            <a:off x="3319272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3502152" y="201168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3456432" y="315468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56432" y="35661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3931920"/>
            <a:ext cx="24140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engine. Purpose-built for high-write-rate numeric data. Custom query language (Flux).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9"/>
          <p:cNvSpPr/>
          <p:nvPr/>
        </p:nvSpPr>
        <p:spPr>
          <a:xfrm>
            <a:off x="6181344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20"/>
          <p:cNvSpPr/>
          <p:nvPr/>
        </p:nvSpPr>
        <p:spPr>
          <a:xfrm>
            <a:off x="6364224" y="201168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318504" y="315468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Chronograf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504" y="35661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64224" y="3931920"/>
            <a:ext cx="24140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visualization layer. Similar role to Grafana. Less popular than Grafana in the wider world.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43416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5"/>
          <p:cNvSpPr/>
          <p:nvPr/>
        </p:nvSpPr>
        <p:spPr>
          <a:xfrm>
            <a:off x="9043416" y="1737360"/>
            <a:ext cx="73152" cy="4526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6"/>
          <p:cNvSpPr/>
          <p:nvPr/>
        </p:nvSpPr>
        <p:spPr>
          <a:xfrm>
            <a:off x="9226296" y="201168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9180576" y="315468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80576" y="35661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+ Stream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26296" y="3931920"/>
            <a:ext cx="24140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 processor. Watches metrics, evaluates rules, fires alerts. Handles anomaly detection too.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LGTM — Loki, Grafana, Tempo, Mimir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unified stack from Grafana Labs. One UI (Grafana), three specialized backends — one per pillar.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481328" y="201168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1945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92608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—  Loki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4360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840480"/>
            <a:ext cx="2414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"Prometheus for logs." Indexes only labels, not content — much cheaper than Elasticsearch at scale.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19272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3319272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4343400" y="2011680"/>
            <a:ext cx="731520" cy="73152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945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56432" y="292608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—  Grafana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3456432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02152" y="3840480"/>
            <a:ext cx="2414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dashboard. Pulls data from Loki, Tempo, Mimir, Prometheus, and 50+ other sources.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181344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19"/>
          <p:cNvSpPr/>
          <p:nvPr/>
        </p:nvSpPr>
        <p:spPr>
          <a:xfrm>
            <a:off x="6181344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20"/>
          <p:cNvSpPr/>
          <p:nvPr/>
        </p:nvSpPr>
        <p:spPr>
          <a:xfrm>
            <a:off x="7205472" y="20116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1945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18504" y="292608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—  Tempo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318504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64224" y="3840480"/>
            <a:ext cx="2414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backend. Object-storage-backed. Cheap. Integrates with OpenTelemetry natively.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9043416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Shape 25"/>
          <p:cNvSpPr/>
          <p:nvPr/>
        </p:nvSpPr>
        <p:spPr>
          <a:xfrm>
            <a:off x="9043416" y="1737360"/>
            <a:ext cx="73152" cy="4526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Shape 26"/>
          <p:cNvSpPr/>
          <p:nvPr/>
        </p:nvSpPr>
        <p:spPr>
          <a:xfrm>
            <a:off x="10067544" y="201168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4" y="219456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80576" y="292608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—  Mimir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9180576" y="34290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226296" y="3840480"/>
            <a:ext cx="2414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Prometheus-compatible metrics store. Handles millions of active series.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AWS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and the cloud-native tooling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— instrument once, ship anywhere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2344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68680" cy="8686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771650"/>
            <a:ext cx="434340" cy="4343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vendor-neutral standard for telemetry.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28800" y="1920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SDK. One wire format (OTLP). One instrumentation. Send data to any backend — CloudWatch, Datadog, Honeycomb, LGTM. Kills vendor lock-in.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55321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73152" cy="3474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685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33375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your app ONCE — using OTel SDK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backends without rewriting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Auto-instrumentation for Python, Node, Java, Go, .NET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three pillars — metrics, logs, traces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CNCF — every major vendor supports it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2788920"/>
            <a:ext cx="55321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172200" y="2788920"/>
            <a:ext cx="73152" cy="34747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6"/>
          <p:cNvSpPr/>
          <p:nvPr/>
        </p:nvSpPr>
        <p:spPr>
          <a:xfrm>
            <a:off x="640080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pieces you'll use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00800" y="33375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library in your app that emits telemetry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sidecar or agent that receives, processes, and exports OTel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wire protocol. gRPC or HTTP. Every backend speaks 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observability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with AWS. You can mix these with the stacks from Part 2 — they all speak OpenTelemetry.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481328" y="201168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1945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92608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" y="33832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Logs + Alarms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749040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default. Metrics, log ingestion, alarms, dashboards, event bridge. Cheap for basic use, gets expensive fast at scale.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5532120"/>
            <a:ext cx="2414016" cy="5943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685800" y="5532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per metric + GB of logs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19272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3319272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4343400" y="2011680"/>
            <a:ext cx="731520" cy="73152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9456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56432" y="292608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456432" y="33832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502152" y="3749040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tracing. Instrument your app with the X-Ray SDK or OpenTelemetry. Shows request flow across Lambdas, API GW, RDS.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502152" y="5532120"/>
            <a:ext cx="2414016" cy="5943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1"/>
          <p:cNvSpPr/>
          <p:nvPr/>
        </p:nvSpPr>
        <p:spPr>
          <a:xfrm>
            <a:off x="3547872" y="5532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per trace recorded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81344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3"/>
          <p:cNvSpPr/>
          <p:nvPr/>
        </p:nvSpPr>
        <p:spPr>
          <a:xfrm>
            <a:off x="6181344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4"/>
          <p:cNvSpPr/>
          <p:nvPr/>
        </p:nvSpPr>
        <p:spPr>
          <a:xfrm>
            <a:off x="7205472" y="20116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19456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18504" y="292608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+ AMG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318504" y="33832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Prometheus + Grafana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364224" y="3749040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AWS-run Prometheus and Grafana. Skip the ops burden of self-hosting Mimir/Grafana. Native LGTM in AWS.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364224" y="5532120"/>
            <a:ext cx="2414016" cy="5943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29"/>
          <p:cNvSpPr/>
          <p:nvPr/>
        </p:nvSpPr>
        <p:spPr>
          <a:xfrm>
            <a:off x="6409944" y="5532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per sample + Grafana user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9043416" y="173736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6" name="Shape 31"/>
          <p:cNvSpPr/>
          <p:nvPr/>
        </p:nvSpPr>
        <p:spPr>
          <a:xfrm>
            <a:off x="9043416" y="1737360"/>
            <a:ext cx="73152" cy="4526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7" name="Shape 32"/>
          <p:cNvSpPr/>
          <p:nvPr/>
        </p:nvSpPr>
        <p:spPr>
          <a:xfrm>
            <a:off x="10067544" y="201168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4" y="2194560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180576" y="292608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180576" y="33832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Distro for OpenTelemetry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9226296" y="3749040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AWS-supported build of the OTel Collector. Pre-configured exporters for CloudWatch, X-Ray, AMP. Use this to bridge OTel to AWS.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9226296" y="5532120"/>
            <a:ext cx="2414016" cy="5943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3" name="Text 37"/>
          <p:cNvSpPr/>
          <p:nvPr/>
        </p:nvSpPr>
        <p:spPr>
          <a:xfrm>
            <a:off x="9272016" y="5532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— you pay for the backends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Work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hygiene and pitfalls to dodge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done 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separate a mature on-call rotation from one that burns out in three months.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2240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685800" cy="6858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183130"/>
            <a:ext cx="342900" cy="342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2057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symptoms, not causes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2788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"User-facing errors above 1%" — YES. "CPU above 80%" — no. High CPU that doesn't hurt users doesn't need a page.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1737360"/>
            <a:ext cx="55321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172200" y="1737360"/>
            <a:ext cx="73152" cy="2240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6446520" y="2011680"/>
            <a:ext cx="685800" cy="68580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2183130"/>
            <a:ext cx="342900" cy="342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2057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must be actionable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492240" y="2788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response is "acknowledge and go back to sleep," delete the alert. Non-actionable alerts train people to ignore alerts.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7200" y="4114800"/>
            <a:ext cx="55321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457200" y="4114800"/>
            <a:ext cx="73152" cy="2240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18"/>
          <p:cNvSpPr/>
          <p:nvPr/>
        </p:nvSpPr>
        <p:spPr>
          <a:xfrm>
            <a:off x="731520" y="438912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456057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44348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must have a runbook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77240" y="51663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fires at 3am, the on-call needs a link that says: what does this mean, how do I check, how do I fix it. No exceptions.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72200" y="4114800"/>
            <a:ext cx="55321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6172200" y="411480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3"/>
          <p:cNvSpPr/>
          <p:nvPr/>
        </p:nvSpPr>
        <p:spPr>
          <a:xfrm>
            <a:off x="6446520" y="4389120"/>
            <a:ext cx="68580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0" y="4560570"/>
            <a:ext cx="342900" cy="3429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44348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by urgency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492240" y="51663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→ wakes someone up (SEV1 outages only). Ticket → next business day. FYI → dashboard only. Most "alerts" belong in tier 3.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observability programs die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these before you're the one on-call at 2am wondering why no one's answering the pages.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0916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5603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noisy alerts. Team starts ignoring the pager. The one real incident slips through.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297680" y="173736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290" y="209169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sprawl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25603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makes their own dashboard. Nobody knows which is authoritative. Nobody looks.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3816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8138160" y="173736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18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09169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6112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66760" y="25603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labeled with user IDs or trace IDs. Prometheus explodes. Bills go 10x. Cluster crashes.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5720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457200" y="411480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3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46913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correlation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85800" y="49377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metrics, traces live in silos. Can't tie a slow request to its logs. Debug time doubles.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29768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4297680" y="411480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Shape 28"/>
          <p:cNvSpPr/>
          <p:nvPr/>
        </p:nvSpPr>
        <p:spPr>
          <a:xfrm>
            <a:off x="4480560" y="4343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290" y="4469130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Instrumenting later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526280" y="49377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shipped without telemetry. "We'll add it when we need it" = never. Add it day one.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13816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8138160" y="411480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Shape 33"/>
          <p:cNvSpPr/>
          <p:nvPr/>
        </p:nvSpPr>
        <p:spPr>
          <a:xfrm>
            <a:off x="8321040" y="4343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4469130"/>
            <a:ext cx="251460" cy="2514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6112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averages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8366760" y="49377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p50 (median). Miss the p99 users having a terrible time. Always chart the tail.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≠ Observability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3444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unknowns vs unknown unknowns. Modern systems need both.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29768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760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7492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Traces. Each answers different questions.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6"/>
          <p:cNvSpPr/>
          <p:nvPr/>
        </p:nvSpPr>
        <p:spPr>
          <a:xfrm>
            <a:off x="813816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17602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154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and USE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91540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Rate/Errors/Duration for services. Utilization/Saturation/Errors for resources.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1"/>
          <p:cNvSpPr/>
          <p:nvPr/>
        </p:nvSpPr>
        <p:spPr>
          <a:xfrm>
            <a:off x="45720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SLI, SLO, SLA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23444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measure, what you commit to, what you contract.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29768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26"/>
          <p:cNvSpPr/>
          <p:nvPr/>
        </p:nvSpPr>
        <p:spPr>
          <a:xfrm>
            <a:off x="429768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30861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49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stack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507492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for logs, TICK for time-series, LGTM for the modern default.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13816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1"/>
          <p:cNvSpPr/>
          <p:nvPr/>
        </p:nvSpPr>
        <p:spPr>
          <a:xfrm>
            <a:off x="813816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832104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340" y="30861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54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91540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instrumentation. Ship data anywhere. No lock-in.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5720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45720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" y="4411980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3444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123444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CloudWatch, X-Ray, AMP + AMG, ADOT. Bridge to OTel.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429768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0" name="Shape 41"/>
          <p:cNvSpPr/>
          <p:nvPr/>
        </p:nvSpPr>
        <p:spPr>
          <a:xfrm>
            <a:off x="429768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Shape 42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4860" y="4411980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with discipline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507492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not causes. Actionable. Runbook per alert. Tier by urgency.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an app end-to-end on AWS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small Python or Node app. Wire up metrics, logs, and an alert on CloudWatch. Prove it works.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0" y="777240"/>
            <a:ext cx="1280160" cy="1280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6"/>
          <p:cNvSpPr/>
          <p:nvPr/>
        </p:nvSpPr>
        <p:spPr>
          <a:xfrm>
            <a:off x="10789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7"/>
          <p:cNvSpPr/>
          <p:nvPr/>
        </p:nvSpPr>
        <p:spPr>
          <a:xfrm>
            <a:off x="10789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small web app on EC2. Flask, Express, whatever. Serves a health endpoint.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3172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295351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295351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23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logs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2316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CloudWatch agent. Send app stdout logs to a CloudWatch Log Group.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482803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48280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2976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metrics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9768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 custom metric — request count, response time. Use the CloudWatch SDK.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8076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Shape 21"/>
          <p:cNvSpPr/>
          <p:nvPr/>
        </p:nvSpPr>
        <p:spPr>
          <a:xfrm>
            <a:off x="670255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2"/>
          <p:cNvSpPr/>
          <p:nvPr/>
        </p:nvSpPr>
        <p:spPr>
          <a:xfrm>
            <a:off x="670255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1722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CloudWatch, one dashboard: RPS, error rate, p95 latency.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95528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6"/>
          <p:cNvSpPr/>
          <p:nvPr/>
        </p:nvSpPr>
        <p:spPr>
          <a:xfrm>
            <a:off x="857707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7"/>
          <p:cNvSpPr/>
          <p:nvPr/>
        </p:nvSpPr>
        <p:spPr>
          <a:xfrm>
            <a:off x="857707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0467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alarm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04672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when 5xx rate &gt; 1% for 5 minutes. Route to SNS + your email.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8298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31"/>
          <p:cNvSpPr/>
          <p:nvPr/>
        </p:nvSpPr>
        <p:spPr>
          <a:xfrm>
            <a:off x="104515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32"/>
          <p:cNvSpPr/>
          <p:nvPr/>
        </p:nvSpPr>
        <p:spPr>
          <a:xfrm>
            <a:off x="104515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9212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9212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app deliberately. Watch the alarm fire. Verify the email arrives.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7200" y="4709160"/>
            <a:ext cx="11247120" cy="160020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6"/>
          <p:cNvSpPr/>
          <p:nvPr/>
        </p:nvSpPr>
        <p:spPr>
          <a:xfrm>
            <a:off x="685800" y="4800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SUBMIT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580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data. Alarm in OK state. Alarm firing when triggered. Email received.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4348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config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43484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CloudWatch alarm JSON or Terraform. We'll review threshold choices together.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8388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18388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symptom-not-cause alert your app could have. Why is it better than a resource alert?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Session 7. Delete the alarm + Log Group when done — they cost pennies but pennies add up.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058400" y="45720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274320" y="5029200"/>
            <a:ext cx="1280160" cy="1280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1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7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noisy alerts, your "why is this slow" traces, your dashboards nobody looks at.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5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6: Monitoring &amp; Observability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2631</TotalTime>
  <Words>2298</Words>
  <Application>Microsoft Macintosh PowerPoint</Application>
  <PresentationFormat>Widescreen</PresentationFormat>
  <Paragraphs>327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&amp; Observability — Session 6</dc:title>
  <dc:subject>PptxGenJS Presentation</dc:subject>
  <dc:creator>KamiLimu Cloud Track</dc:creator>
  <cp:lastModifiedBy>Mark Kibara</cp:lastModifiedBy>
  <cp:revision>2</cp:revision>
  <dcterms:created xsi:type="dcterms:W3CDTF">2026-08-27T13:46:04Z</dcterms:created>
  <dcterms:modified xsi:type="dcterms:W3CDTF">2026-08-29T09:56:44Z</dcterms:modified>
</cp:coreProperties>
</file>