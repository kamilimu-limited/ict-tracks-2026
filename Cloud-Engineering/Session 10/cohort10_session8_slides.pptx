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10058400" y="365760"/>
            <a:ext cx="1554480" cy="1554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82880" y="5120640"/>
            <a:ext cx="1097280" cy="1097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972800" y="5303520"/>
            <a:ext cx="822960" cy="8229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219456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82296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&amp;</a:t>
            </a:r>
            <a:endParaRPr lang="en-US" sz="5000" dirty="0"/>
          </a:p>
        </p:txBody>
      </p:sp>
      <p:sp>
        <p:nvSpPr>
          <p:cNvPr id="8" name="Text 3"/>
          <p:cNvSpPr/>
          <p:nvPr/>
        </p:nvSpPr>
        <p:spPr>
          <a:xfrm>
            <a:off x="822960" y="3429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5000" dirty="0"/>
          </a:p>
        </p:txBody>
      </p:sp>
      <p:sp>
        <p:nvSpPr>
          <p:cNvPr id="9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patterns, tradeoffs — analyzed through the Hynfra HMIS sovereign-cloud case study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 •  Lead Cloud Mentor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deployment models — plus sovereign cloud, which the case study turns 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492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Hynfra, DHA, MedSys. The context your deliverables are being graded against.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real-world shapes, the shared responsibility question, and connectivity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690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55448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reality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5029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for, why not, data gravity — and when sovereign cloud sidesteps the trap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51960" y="40690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51960" y="40690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34924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26280" y="5029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MedSys twist. Decision framework. Workshopping your deliverables live.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40690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46720" y="40690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14400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for next session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21040" y="5029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bring, what to defend, what to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The Case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deployment models — and the problem we're analyzing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Private, Hybrid, Multi-cloud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deployment models. People use them as synonyms. They aren't. The fifth — sovereign — comes next.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35608" y="20116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21742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97180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94360" y="34290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840480"/>
            <a:ext cx="2414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rent compute, storage, services from a provider (AWS, GCP, Azure). Multi-tenant hardware. Pay-as-you-go.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5577840"/>
            <a:ext cx="2414016" cy="5486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557784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Startups, SaaS, most new workloads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19272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19272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97680" y="2011680"/>
            <a:ext cx="822960" cy="82296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21742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56432" y="297180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456432" y="34290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to you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502152" y="3840480"/>
            <a:ext cx="2414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dedicated to one organization. In your data centre, or hosted. You own the control.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502152" y="5577840"/>
            <a:ext cx="2414016" cy="5486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47872" y="557784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defence, legacy ERP shops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81344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81344" y="173736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159752" y="201168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92" y="2217420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18504" y="297180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6318504" y="34290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 Private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364224" y="3840480"/>
            <a:ext cx="2414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private environments connected to one public cloud. The dominant real-world pattern.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364224" y="5577840"/>
            <a:ext cx="2414016" cy="5486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9944" y="557784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mid-to-large enterprises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9043416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043416" y="1737360"/>
            <a:ext cx="73152" cy="4526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0021824" y="2011680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564" y="2217420"/>
            <a:ext cx="411480" cy="41148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180576" y="297180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800" dirty="0"/>
          </a:p>
        </p:txBody>
      </p:sp>
      <p:sp>
        <p:nvSpPr>
          <p:cNvPr id="40" name="Text 34"/>
          <p:cNvSpPr/>
          <p:nvPr/>
        </p:nvSpPr>
        <p:spPr>
          <a:xfrm>
            <a:off x="9180576" y="34290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publics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9226296" y="3840480"/>
            <a:ext cx="2414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public cloud providers used together. Operationally complex and often misunderstood.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9226296" y="5577840"/>
            <a:ext cx="2414016" cy="5486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272016" y="557784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giants, cloud-strategic shops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cloud — the fifth model, and the one the case study turns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24712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73152" cy="1280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0876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1417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under the jurisdiction and operational control of a specific country.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828800" y="1874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private: a private cloud in AWS Ireland does not satisfy Kenyan data-sovereignty requirements. Sovereignty is about WHO has legal authority, not just where metal sits.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4320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743200"/>
            <a:ext cx="73152" cy="2194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01752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3166110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31520" y="37490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backups, DR copies — all stored within the country. No cross-border replication without consent.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297680" y="274320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97680" y="2743200"/>
            <a:ext cx="73152" cy="2194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26280" y="301752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870" y="3166110"/>
            <a:ext cx="297180" cy="2971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5780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control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572000" y="37490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subject to local law. Admin access logged. No extraterritorial subpoena risk (CLOUD Act, etc.).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138160" y="274320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138160" y="2743200"/>
            <a:ext cx="73152" cy="2194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366760" y="301752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350" y="3166110"/>
            <a:ext cx="297180" cy="2971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9828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custody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412480" y="37490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keys held locally. Not in a hyperscaler's HSM governed by another jurisdiction's law.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57200" y="512064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4068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0876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tradeoffs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5087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services than hyperscalers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SageMaker, no Bedrock, no 200+ services menu. </a:t>
            </a:r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scale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or two regions, not sixty. </a:t>
            </a:r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premium often real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volume economics favour the giants. </a:t>
            </a:r>
            <a:pPr indent="0" marL="0">
              <a:buNone/>
            </a:pPr>
            <a:r>
              <a:rPr lang="en-US" sz="115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for regulated workloads, these are features, not bugs.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Hynfra &amp; Kenya's HMIS ecosystem — what we're analysing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you've been working. Everything else today ties back to this.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7380" y="2011680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21742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971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5800" y="35204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 — Digital Health Agency, est. under 2025 regulations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required for every HMIS before deployment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DPIA, ODPC registration, cybersecurity assessment required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ESB + Shared Health Record — interoperability mandatory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must stay in Kenya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37860" y="20116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1742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80560" y="2971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526280" y="35204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Hynfra Technologies — proposed Kenyan sovereign cloud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market: HMIS vendors, not hospitals directly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Hynfra runs infrastructure; vendors run software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platform → faster hospital onboarding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foundation across all customers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3816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38160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578340" y="2011680"/>
            <a:ext cx="822960" cy="82296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21742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21040" y="2971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customer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366760" y="35204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MedSys Kenya — 35 hospitals + 80 clinics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concurrent users; 24/7 clinical operations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GB DB + ~500 GB docs/images per hospital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40% on-prem, 40% public cloud, 20% local hosting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devs, 2 infra engineers, no SecOps team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you'll see in the Hynfra architecture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 — all three show up in MedSys's current estate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shows up in three recognisable shapes. The MedSys fleet contains all three today — which is exactly the problem.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7380" y="20116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21742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971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bursting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 demand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79476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baseline on-prem; overflow to cloud for peaks. Pay for peak capacity only when needed.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5440680"/>
            <a:ext cx="324612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440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Hospital: baseline on-prem; outpatient surges spill into Hynfra.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9768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37860" y="2011680"/>
            <a:ext cx="822960" cy="82296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1742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80560" y="2971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48056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stays local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26280" y="379476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data stays in-country. Stateless apps run elsewhere; data stays home.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26280" y="5440680"/>
            <a:ext cx="324612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0" y="5440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on Hynfra Kenya; mobile booking app anywhere.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13816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38160" y="173736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578340" y="201168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217420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321040" y="2971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to cloud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832104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against failure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366760" y="379476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on-prem; cloud holds a standby, backups, or warm replica.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366760" y="5440680"/>
            <a:ext cx="324612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412480" y="5440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Hospital's on-prem server fails → Hynfra DR site takes over.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— where to draw the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 hands you a draft matrix. Your job is to challenge it. Here's a starter interpretation.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3703320" cy="640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Hynfra owns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network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execution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orchestration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cybersecurity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SIEM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plumbing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7373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737360"/>
            <a:ext cx="37033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7373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34840" y="2057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dangerous zone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51460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 management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policy design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remediation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advice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(DPIA)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evidence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737360"/>
            <a:ext cx="3703320" cy="6400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7373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HMIS vendor owns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2057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251460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HMIS application code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security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workflows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 certification itself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interoperability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(clinical)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Patient-data handling logic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"shared" lives, incidents fall through the cracks. </a:t>
            </a:r>
            <a:pPr algn="ctr" indent="0" marL="0">
              <a:buNone/>
            </a:pPr>
            <a:r>
              <a:rPr lang="en-US" sz="11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shared item needs a RACI. The case study's matrix is a starting point — argue the boundaries.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→ Hynfra connectivity — VPN or Direct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vary wildly in connectivity maturity. The platform must accommodate both ends of the spectrum.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2024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0802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tunnel over the internet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27889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router ↔ Hynfra VPN endpoint. IPsec-encrypted. Public internet in between.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4747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provision — no physical install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Cheap: hundreds of KES/month per tunnel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Bandwidth: typically up to ~1 Gbps per tunnel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reliability vary with the ISP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for: small clinics, backup paths, DR traffic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73736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08026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/ PRIVATE CIRCUIT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22376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private line to Hynfra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00800" y="27889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fibre from hospital DC to Hynfra PoP. No internet in the middle. Predictable.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92240" y="34747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months — physical install, cross-connect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port fees + much lower per-GB transit cost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Bandwidth: dedicated, scalable to multi-Gbps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latency — no internet weather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for: large hospitals, prod data flows, 24/7 EMR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Reality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multi, why not, and where sovereign cloud fits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case FOR multi-cloud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 reasons organisations choose multi-cloud. Note: Hynfra's sovereign offer SIDESTEPS most of these for HMIS vendors.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209169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requires it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5800" y="26060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jurisdictions mandate workload portability. For Kenyan HMIS: data residency is the dominant force, not portability.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1737360"/>
            <a:ext cx="73152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209169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Best-of-breed services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26280" y="26060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for analytics. Bedrock for LLMs. Each cloud genuinely excels at something. Trade: operational burden.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3816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38160" y="1737360"/>
            <a:ext cx="73152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209169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6112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across providers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366760" y="26060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AWS Ireland has a region-wide outage, you're down. Spreading critical services reduces blast radius.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4114800"/>
            <a:ext cx="73152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446913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Negotiating leverage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685800" y="49834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threat to move drives better renewal pricing. Finance loves this. Engineering pays the operational cost.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9768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97680" y="4114800"/>
            <a:ext cx="73152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480560" y="43434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469130"/>
            <a:ext cx="251460" cy="2514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2064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reality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526280" y="49834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bought a company. They run on another cloud. Migration costs millions and takes years. You're now multi-cloud.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13816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138160" y="4114800"/>
            <a:ext cx="73152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321040" y="43434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469130"/>
            <a:ext cx="251460" cy="2514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6112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coverage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8366760" y="49834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competitor's cloud has a region in a country you need and yours doesn't. You use theirs there. You live with 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case AGAINST multi-cloud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costs nobody mentions. This is exactly what Hynfra's value prop targets — HMIS vendors shouldn't carry these.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209169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 2-3x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5800" y="26060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tool, pipeline, dashboard, alert — now in two flavours. Your SRE team doesn't double in size.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173736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209169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common denominator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26280" y="26060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lean on cloud-specific services. For HMIS: a sovereign offer removes this choice-paralysis entirely.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3816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38160" y="173736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209169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6112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fees are brutal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366760" y="260604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→ anywhere external: ~$0.05-0.09/GB. For a 650 GB hospital dataset, this adds up fast.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411480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446913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the security surface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685800" y="49834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IAM models, two audit trails, two patch regimes. The MedSys team has zero SecOps engineers today.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9768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97680" y="411480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480560" y="4343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469130"/>
            <a:ext cx="251460" cy="2514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2064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must know both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526280" y="49834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and Azure are not interchangeable. Deep expertise on both is rare — and MedSys has 2 infra engineers.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13816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138160" y="411480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321040" y="4343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469130"/>
            <a:ext cx="251460" cy="2514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6112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lock-in you avoided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8366760" y="49834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the cost of avoiding lock-in day one. The cost of lock-in only matters if you actually need to move.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•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gravity — the Kenyan patient-records version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24712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73152" cy="1280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0876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1417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mass. Applications fall toward it. Regulators pin it to the ground.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828800" y="1920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MedSys: ~650 GB per hospital × 35 hospitals = ~23 TB production data, plus backups and DR. Moving this is slow, expensive, and in some cases illegal.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4320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74320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01752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314325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258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data is slow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31520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 23 TB over a 100 Mbps link: ~22 days. Over 1 Gbps: ~2 days. Backup windows alone become a constraint.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72200" y="274320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274320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30" y="314325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408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fees pay for lock-in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46520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egress rates make leaving unaffordable once data arrives. Hynfra's position: in-country means in-reach.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457200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457200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5800" y="484632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4972050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258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between clouds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31520" y="5440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HMIS app in AWS Ireland and records in Kenya: 150+ms round-trip per DB call. Clinicians notice.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172200" y="457200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172200" y="457200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00800" y="484632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530" y="4972050"/>
            <a:ext cx="251460" cy="2514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408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lives with data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446520" y="5440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DHA regulations require Kenya residency for patient records. If data moves, so does the regulator's gaze.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framework, the MedSys twist, and workshop prompts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strategy fits — walk the questions top to bottom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wins. For MedSys, which question lights up first — and why does Hynfra exist?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8973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97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737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regulation force data to stay somewhere specific?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0" y="1737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Hybrid, in-country cloud, or sovereign. For MedSys: yes.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96312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96312"/>
            <a:ext cx="73152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656332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563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49631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major legacy on-prem systems that must stay?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0" y="249631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Hybrid. Connect to one cloud. Common at older hospitals.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55264"/>
            <a:ext cx="73152" cy="68580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415284"/>
            <a:ext cx="365760" cy="36576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152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25526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inherit multi-cloud via M&amp;A?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325526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 by circumstance. Pick a primary; consolidate over time.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14216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14216"/>
            <a:ext cx="7315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17423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1742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0142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service that only exists on one other cloud?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0" y="401421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Narrow multi-cloud. Isolate that workload; rest stays home.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773168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773168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93318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9331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34440" y="477316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risk across providers for DR?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858000" y="47731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Primary + DR. Duplicate only what truly matters.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553212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5532120"/>
            <a:ext cx="73152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5692140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692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234440" y="5532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want to avoid lock-in?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858000" y="55321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cloud. Design for portability. Don't pre-optimize.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 — MedSys wins 25 more hospitals,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002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35 to 60 hospitals in 90 days.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82880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ISPs. Different legacy systems. Varying IT maturity. No new infra engineers. Full backup, DR, cybersecurity, 24/7 availability required. Hynfra expected to onboard each rapidly.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to argue in your groups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3337560"/>
            <a:ext cx="277977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337560"/>
            <a:ext cx="73152" cy="2926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72768" y="356616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72768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40080" y="4251960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architecture breaks?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507492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reference architecture scale 2x in 90 days? Which component becomes the bottleneck?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319272" y="3337560"/>
            <a:ext cx="277977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19272" y="3337560"/>
            <a:ext cx="73152" cy="2926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356616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348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3502152" y="4251960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commercial model breaks?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547872" y="507492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onboard 25 hospitals without renegotiating every contract? Does your tiering survive?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81344" y="3337560"/>
            <a:ext cx="277977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81344" y="3337560"/>
            <a:ext cx="73152" cy="2926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96912" y="356616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96912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6364224" y="4251960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refuse?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409944" y="507492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SLAs can you NOT promise at that pace? Where do you push back on MedSys — and how?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043416" y="3337560"/>
            <a:ext cx="277977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043416" y="3337560"/>
            <a:ext cx="73152" cy="2926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58984" y="356616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158984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9226296" y="4251960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pitch now?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272016" y="507492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Hynfra's value prop get stronger or weaker in this scenario? What becomes the headline?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deliverables — mapped to today's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case-study deliverables, cross-referenced to what we covered. If a cell is weak, it's your focus for next session.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32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Reference Architecture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 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patterns (slide 8), sovereign cloud (slide 5), connectivity (slide 10)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532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73736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74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— Security &amp; Compliance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 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(slide 9) — this slide IS the deliverable's spine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5532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90672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2783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— Disaster Recovery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363931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 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DR-to-cloud pattern (slide 8). Define RPO/RTO per tier. Egress affects both.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090672"/>
            <a:ext cx="5532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090672"/>
            <a:ext cx="73152" cy="12344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22783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 — Commercial Model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0" y="363931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 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economics (slide 13). Hynfra pricing = anti-multi-cloud wedge.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43984"/>
            <a:ext cx="5532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443984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58114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— Go-to-Market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5800" y="4992624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 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 (slide 12) tells you MedSys's pain. Hynfra sells relief from 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443984"/>
            <a:ext cx="5532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4443984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58114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 — Executive Pitch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00800" y="4992624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 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(slide 16). Make it answer Q1 and Q2 definitively.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D1, D2 and D8 </a:t>
            </a:r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analysis, customer profile, business case) draw on the market context — see case study sections 1, 2, and the twist on slide 17.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8: Multi-cloud &amp; Hybrid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602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3444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private, hybrid, multi — plus sovereign.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7602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is jurisdiction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07492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location. Local law, local keys, local operators.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3816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76022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1540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anchors us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91540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Hynfra + DHA + MedSys — real constraints, real tradeoffs.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0861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hybrid patterns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123444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Bursting, sovereignty, DR. MedSys has all three today.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29768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29768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48056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08610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7492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507492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dangerous zone. Every shared item needs a RACI.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13816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13816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32104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308610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91540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costs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891540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2-3x. MedSys's team can't afford that today.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5720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5720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4411980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3444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gravity</a:t>
            </a:r>
            <a:endParaRPr lang="en-US" sz="1250" dirty="0"/>
          </a:p>
        </p:txBody>
      </p:sp>
      <p:sp>
        <p:nvSpPr>
          <p:cNvPr id="48" name="Text 39"/>
          <p:cNvSpPr/>
          <p:nvPr/>
        </p:nvSpPr>
        <p:spPr>
          <a:xfrm>
            <a:off x="123444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TB of patient data stays where regulators pin it.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429768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429768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448056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860" y="4411980"/>
            <a:ext cx="228600" cy="2286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7492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deliberately</a:t>
            </a:r>
            <a:endParaRPr lang="en-US" sz="1250" dirty="0"/>
          </a:p>
        </p:txBody>
      </p:sp>
      <p:sp>
        <p:nvSpPr>
          <p:cNvPr id="54" name="Text 44"/>
          <p:cNvSpPr/>
          <p:nvPr/>
        </p:nvSpPr>
        <p:spPr>
          <a:xfrm>
            <a:off x="507492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framework. Question 1 answers for MedSys.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FOR NEXT SESSION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your case study — come ready to defend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homework. Instead: refine your existing deliverables with what we discussed today. Bring the hard problems.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241280" y="777240"/>
            <a:ext cx="1280160" cy="12801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789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Q1 answer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 does regulation force where data sits? Make that your anchor.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3172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5351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5351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231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matrix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2316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responsibility, three columns. Challenge the case study's defaults.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0624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2803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803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2976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tiers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29768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vs Enterprise. Define SLA, RPO, RTO numerically.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8076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0255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0255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1722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7220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pricing model (A-E in the brief). Argue why it beats the others.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95528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57707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7707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0467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twist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04672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scenario on slide 17. What changes in your design?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98298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4515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4515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9212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to challenge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9212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team: bring one argument you expect to lose. Where's your design weakest?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57200" y="4709160"/>
            <a:ext cx="11247120" cy="160020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" y="4800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WORKSHOP NEXT TIME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580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8580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swap reference architectures. Red-team each other's shared-responsibility boundaries.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43484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 defence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43484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presents how their design survives the 25-hospital scenario. 5 minutes each.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18388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818388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why would an HMIS vendor choose Hynfra over AWS Cape Town? Argue it out loud.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weightings are in section 12 of the brief. Technical architecture + regulatory understanding = 35%.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Multi-cloud &amp; Hybrid Cloud — Session 8</dc:title>
  <dc:subject>PptxGenJS Presentation</dc:subject>
  <dc:creator>KamiLimu Cloud Track</dc:creator>
  <cp:lastModifiedBy>KamiLimu Cloud Track</cp:lastModifiedBy>
  <cp:revision>1</cp:revision>
  <dcterms:created xsi:type="dcterms:W3CDTF">2026-10-13T11:38:48Z</dcterms:created>
  <dcterms:modified xsi:type="dcterms:W3CDTF">2026-10-13T11:38:48Z</dcterms:modified>
</cp:coreProperties>
</file>